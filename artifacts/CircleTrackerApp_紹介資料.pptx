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  <p:defaultTextStyle>
    <a:defPPr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FFFFFF" accent2="FFFFFF" accent3="FFFFFF" accent4="FFFFFF" accent5="FFFFFF" accent6="FFFFFF" bg1="FFFFFF" bg2="FFFFFF" folHlink="FFFFFF" hlink="FFFFFF" tx1="FFFFFF" tx2="FFFFFF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713232" y="640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1" i="0">
                <a:solidFill>
                  <a:srgbClr val="6EE7F9"/>
                </a:solidFill>
                <a:latin typeface="Aptos"/>
                <a:ea typeface="Aptos"/>
              </a:rPr>
              <a:t>CIRCLETRACKERAPP</a:t>
            </a:r>
            <a:endParaRPr lang="ja-JP" sz="1400"/>
          </a:p>
        </p:txBody>
      </p:sp>
      <p:sp>
        <p:nvSpPr>
          <p:cNvPr id="3" name="Shape 3"/>
          <p:cNvSpPr/>
          <p:nvPr/>
        </p:nvSpPr>
        <p:spPr>
          <a:xfrm>
            <a:off x="713232" y="1325880"/>
            <a:ext cx="66751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3400" b="1" i="0">
                <a:solidFill>
                  <a:srgbClr val="F5FAFF"/>
                </a:solidFill>
                <a:latin typeface="Aptos"/>
                <a:ea typeface="Aptos"/>
              </a:rPr>
              <a:t>描いた円が、
その場所に浮かんで見える</a:t>
            </a:r>
            <a:endParaRPr lang="ja-JP" sz="3400"/>
          </a:p>
        </p:txBody>
      </p:sp>
      <p:sp>
        <p:nvSpPr>
          <p:cNvPr id="4" name="Shape 4"/>
          <p:cNvSpPr/>
          <p:nvPr/>
        </p:nvSpPr>
        <p:spPr>
          <a:xfrm>
            <a:off x="749808" y="315468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700" b="0" i="0">
                <a:solidFill>
                  <a:srgbClr val="AFC1D4"/>
                </a:solidFill>
                <a:latin typeface="Aptos"/>
                <a:ea typeface="Aptos"/>
              </a:rPr>
              <a:t>iPhoneを動かして円を描くと、
その軌跡をカメラ越しに見返せる</a:t>
            </a:r>
            <a:endParaRPr lang="ja-JP" sz="1700"/>
          </a:p>
        </p:txBody>
      </p:sp>
      <p:sp>
        <p:nvSpPr>
          <p:cNvPr id="5" name="Shape 5"/>
          <p:cNvSpPr/>
          <p:nvPr/>
        </p:nvSpPr>
        <p:spPr>
          <a:xfrm>
            <a:off x="7315200" y="822960"/>
            <a:ext cx="3931920" cy="530352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6" name="Shape 6"/>
          <p:cNvSpPr/>
          <p:nvPr/>
        </p:nvSpPr>
        <p:spPr>
          <a:xfrm>
            <a:off x="7635240" y="1143000"/>
            <a:ext cx="3291840" cy="466344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6EE7F9"/>
            </a:solidFill>
          </a:ln>
        </p:spPr>
      </p:sp>
      <p:sp>
        <p:nvSpPr>
          <p:cNvPr id="7" name="Shape 7"/>
          <p:cNvSpPr/>
          <p:nvPr/>
        </p:nvSpPr>
        <p:spPr>
          <a:xfrm>
            <a:off x="8229600" y="192024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8823960" y="160020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9509760" y="173736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0012680" y="224028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0241280" y="292608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0012680" y="365760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9464040" y="416052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8732520" y="429768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8183880" y="393192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7973568" y="324612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8046720" y="251460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cxnSp>
        <p:nvCxnSpPr>
          <p:cNvPr id="18" name="Line 18"/>
          <p:cNvCxnSpPr/>
          <p:nvPr/>
        </p:nvCxnSpPr>
        <p:spPr>
          <a:xfrm>
            <a:off x="8183880" y="1993392"/>
            <a:ext cx="640080" cy="-32004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19" name="Line 19"/>
          <p:cNvCxnSpPr/>
          <p:nvPr/>
        </p:nvCxnSpPr>
        <p:spPr>
          <a:xfrm>
            <a:off x="8823960" y="1673352"/>
            <a:ext cx="685800" cy="13716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0" name="Line 20"/>
          <p:cNvCxnSpPr/>
          <p:nvPr/>
        </p:nvCxnSpPr>
        <p:spPr>
          <a:xfrm>
            <a:off x="9509760" y="1810512"/>
            <a:ext cx="502920" cy="50292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1" name="Line 21"/>
          <p:cNvCxnSpPr/>
          <p:nvPr/>
        </p:nvCxnSpPr>
        <p:spPr>
          <a:xfrm>
            <a:off x="10012680" y="2313432"/>
            <a:ext cx="228600" cy="68580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2" name="Line 22"/>
          <p:cNvCxnSpPr/>
          <p:nvPr/>
        </p:nvCxnSpPr>
        <p:spPr>
          <a:xfrm>
            <a:off x="10241280" y="2999232"/>
            <a:ext cx="-228600" cy="73152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3" name="Line 23"/>
          <p:cNvCxnSpPr/>
          <p:nvPr/>
        </p:nvCxnSpPr>
        <p:spPr>
          <a:xfrm>
            <a:off x="10012680" y="3730752"/>
            <a:ext cx="-548640" cy="50292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4" name="Line 24"/>
          <p:cNvCxnSpPr/>
          <p:nvPr/>
        </p:nvCxnSpPr>
        <p:spPr>
          <a:xfrm>
            <a:off x="9464040" y="4233672"/>
            <a:ext cx="-731520" cy="13716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5" name="Line 25"/>
          <p:cNvCxnSpPr/>
          <p:nvPr/>
        </p:nvCxnSpPr>
        <p:spPr>
          <a:xfrm>
            <a:off x="8732520" y="4370832"/>
            <a:ext cx="-548640" cy="-36576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6" name="Line 26"/>
          <p:cNvCxnSpPr/>
          <p:nvPr/>
        </p:nvCxnSpPr>
        <p:spPr>
          <a:xfrm>
            <a:off x="8183880" y="4005072"/>
            <a:ext cx="-210312" cy="-68580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7" name="Line 27"/>
          <p:cNvCxnSpPr/>
          <p:nvPr/>
        </p:nvCxnSpPr>
        <p:spPr>
          <a:xfrm>
            <a:off x="7973568" y="3319272"/>
            <a:ext cx="73152" cy="-73152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8" name="Line 28"/>
          <p:cNvCxnSpPr/>
          <p:nvPr/>
        </p:nvCxnSpPr>
        <p:spPr>
          <a:xfrm>
            <a:off x="8046720" y="2587752"/>
            <a:ext cx="137160" cy="-59436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29" name="Shape 29"/>
          <p:cNvSpPr/>
          <p:nvPr/>
        </p:nvSpPr>
        <p:spPr>
          <a:xfrm>
            <a:off x="7909560" y="5212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TRACK  →  ANALYZE  →  SEE</a:t>
            </a:r>
            <a:endParaRPr lang="ja-JP" sz="1100"/>
          </a:p>
        </p:txBody>
      </p:sp>
      <p:sp>
        <p:nvSpPr>
          <p:cNvPr id="30" name="Shape 30"/>
          <p:cNvSpPr/>
          <p:nvPr/>
        </p:nvSpPr>
        <p:spPr>
          <a:xfrm>
            <a:off x="749808" y="60807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000" b="0" i="0">
                <a:solidFill>
                  <a:srgbClr val="AFC1D4"/>
                </a:solidFill>
                <a:latin typeface="Aptos"/>
                <a:ea typeface="Aptos"/>
              </a:rPr>
              <a:t>プロジェクト紹介資料  |  2026</a:t>
            </a:r>
            <a:endParaRPr lang="ja-JP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Shape 31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01  WHAT IT DOES</a:t>
            </a:r>
            <a:endParaRPr lang="ja-JP" sz="1100"/>
          </a:p>
        </p:txBody>
      </p:sp>
      <p:sp>
        <p:nvSpPr>
          <p:cNvPr id="32" name="Shape 32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このアプリでできること</a:t>
            </a:r>
            <a:endParaRPr lang="ja-JP" sz="2800"/>
          </a:p>
        </p:txBody>
      </p:sp>
      <p:sp>
        <p:nvSpPr>
          <p:cNvPr id="33" name="Shape 33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iPhoneで描いた円を、あとから同じ空間で確認する</a:t>
            </a:r>
            <a:endParaRPr lang="ja-JP" sz="1400"/>
          </a:p>
        </p:txBody>
      </p:sp>
      <p:sp>
        <p:nvSpPr>
          <p:cNvPr id="34" name="Shape 34"/>
          <p:cNvSpPr/>
          <p:nvPr/>
        </p:nvSpPr>
        <p:spPr>
          <a:xfrm>
            <a:off x="731520" y="2148840"/>
            <a:ext cx="3154680" cy="237744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35" name="Shape 35"/>
          <p:cNvSpPr/>
          <p:nvPr/>
        </p:nvSpPr>
        <p:spPr>
          <a:xfrm>
            <a:off x="960120" y="2423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1" i="0">
                <a:solidFill>
                  <a:srgbClr val="2CA6F7"/>
                </a:solidFill>
                <a:latin typeface="Aptos"/>
                <a:ea typeface="Aptos"/>
              </a:rPr>
              <a:t>01</a:t>
            </a:r>
            <a:endParaRPr lang="ja-JP" sz="1400"/>
          </a:p>
        </p:txBody>
      </p:sp>
      <p:sp>
        <p:nvSpPr>
          <p:cNvPr id="36" name="Shape 36"/>
          <p:cNvSpPr/>
          <p:nvPr/>
        </p:nvSpPr>
        <p:spPr>
          <a:xfrm>
            <a:off x="960120" y="28163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900" b="1" i="0">
                <a:solidFill>
                  <a:srgbClr val="F5FAFF"/>
                </a:solidFill>
                <a:latin typeface="Aptos"/>
                <a:ea typeface="Aptos"/>
              </a:rPr>
              <a:t>じっとする</a:t>
            </a:r>
            <a:endParaRPr lang="ja-JP" sz="1900"/>
          </a:p>
        </p:txBody>
      </p:sp>
      <p:sp>
        <p:nvSpPr>
          <p:cNvPr id="37" name="Shape 37"/>
          <p:cNvSpPr/>
          <p:nvPr/>
        </p:nvSpPr>
        <p:spPr>
          <a:xfrm>
            <a:off x="960120" y="33375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600" b="0" i="0">
                <a:solidFill>
                  <a:srgbClr val="AFC1D4"/>
                </a:solidFill>
                <a:latin typeface="Aptos"/>
                <a:ea typeface="Aptos"/>
              </a:rPr>
              <a:t>3秒間静止して
スタート位置を決める</a:t>
            </a:r>
            <a:endParaRPr lang="ja-JP" sz="1600"/>
          </a:p>
        </p:txBody>
      </p:sp>
      <p:cxnSp>
        <p:nvCxnSpPr>
          <p:cNvPr id="38" name="Line 38"/>
          <p:cNvCxnSpPr/>
          <p:nvPr/>
        </p:nvCxnSpPr>
        <p:spPr>
          <a:xfrm>
            <a:off x="3977640" y="3337560"/>
            <a:ext cx="4572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39" name="Shape 39"/>
          <p:cNvSpPr/>
          <p:nvPr/>
        </p:nvSpPr>
        <p:spPr>
          <a:xfrm>
            <a:off x="4526280" y="2148840"/>
            <a:ext cx="3154680" cy="237744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40" name="Shape 40"/>
          <p:cNvSpPr/>
          <p:nvPr/>
        </p:nvSpPr>
        <p:spPr>
          <a:xfrm>
            <a:off x="4754880" y="2423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1" i="0">
                <a:solidFill>
                  <a:srgbClr val="6EE7F9"/>
                </a:solidFill>
                <a:latin typeface="Aptos"/>
                <a:ea typeface="Aptos"/>
              </a:rPr>
              <a:t>02</a:t>
            </a:r>
            <a:endParaRPr lang="ja-JP" sz="1400"/>
          </a:p>
        </p:txBody>
      </p:sp>
      <p:sp>
        <p:nvSpPr>
          <p:cNvPr id="41" name="Shape 41"/>
          <p:cNvSpPr/>
          <p:nvPr/>
        </p:nvSpPr>
        <p:spPr>
          <a:xfrm>
            <a:off x="4754880" y="28163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900" b="1" i="0">
                <a:solidFill>
                  <a:srgbClr val="F5FAFF"/>
                </a:solidFill>
                <a:latin typeface="Aptos"/>
                <a:ea typeface="Aptos"/>
              </a:rPr>
              <a:t>円を描く</a:t>
            </a:r>
            <a:endParaRPr lang="ja-JP" sz="1900"/>
          </a:p>
        </p:txBody>
      </p:sp>
      <p:sp>
        <p:nvSpPr>
          <p:cNvPr id="42" name="Shape 42"/>
          <p:cNvSpPr/>
          <p:nvPr/>
        </p:nvSpPr>
        <p:spPr>
          <a:xfrm>
            <a:off x="4754880" y="33375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600" b="0" i="0">
                <a:solidFill>
                  <a:srgbClr val="AFC1D4"/>
                </a:solidFill>
                <a:latin typeface="Aptos"/>
                <a:ea typeface="Aptos"/>
              </a:rPr>
              <a:t>iPhoneを動かして
空中に円を描く</a:t>
            </a:r>
            <a:endParaRPr lang="ja-JP" sz="1600"/>
          </a:p>
        </p:txBody>
      </p:sp>
      <p:cxnSp>
        <p:nvCxnSpPr>
          <p:cNvPr id="43" name="Line 43"/>
          <p:cNvCxnSpPr/>
          <p:nvPr/>
        </p:nvCxnSpPr>
        <p:spPr>
          <a:xfrm>
            <a:off x="7772400" y="3337560"/>
            <a:ext cx="4572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44" name="Shape 44"/>
          <p:cNvSpPr/>
          <p:nvPr/>
        </p:nvSpPr>
        <p:spPr>
          <a:xfrm>
            <a:off x="8321040" y="2148840"/>
            <a:ext cx="3154680" cy="237744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45" name="Shape 45"/>
          <p:cNvSpPr/>
          <p:nvPr/>
        </p:nvSpPr>
        <p:spPr>
          <a:xfrm>
            <a:off x="8549640" y="2423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1" i="0">
                <a:solidFill>
                  <a:srgbClr val="86E6B1"/>
                </a:solidFill>
                <a:latin typeface="Aptos"/>
                <a:ea typeface="Aptos"/>
              </a:rPr>
              <a:t>03</a:t>
            </a:r>
            <a:endParaRPr lang="ja-JP" sz="1400"/>
          </a:p>
        </p:txBody>
      </p:sp>
      <p:sp>
        <p:nvSpPr>
          <p:cNvPr id="46" name="Shape 46"/>
          <p:cNvSpPr/>
          <p:nvPr/>
        </p:nvSpPr>
        <p:spPr>
          <a:xfrm>
            <a:off x="8549640" y="28163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900" b="1" i="0">
                <a:solidFill>
                  <a:srgbClr val="F5FAFF"/>
                </a:solidFill>
                <a:latin typeface="Aptos"/>
                <a:ea typeface="Aptos"/>
              </a:rPr>
              <a:t>カメラで見る</a:t>
            </a:r>
            <a:endParaRPr lang="ja-JP" sz="1900"/>
          </a:p>
        </p:txBody>
      </p:sp>
      <p:sp>
        <p:nvSpPr>
          <p:cNvPr id="47" name="Shape 47"/>
          <p:cNvSpPr/>
          <p:nvPr/>
        </p:nvSpPr>
        <p:spPr>
          <a:xfrm>
            <a:off x="8549640" y="33375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600" b="0" i="0">
                <a:solidFill>
                  <a:srgbClr val="AFC1D4"/>
                </a:solidFill>
                <a:latin typeface="Aptos"/>
                <a:ea typeface="Aptos"/>
              </a:rPr>
              <a:t>描いた場所に
軌跡が浮かんで見える</a:t>
            </a:r>
            <a:endParaRPr lang="ja-JP" sz="1600"/>
          </a:p>
        </p:txBody>
      </p:sp>
      <p:sp>
        <p:nvSpPr>
          <p:cNvPr id="48" name="Shape 48"/>
          <p:cNvSpPr/>
          <p:nvPr/>
        </p:nvSpPr>
        <p:spPr>
          <a:xfrm>
            <a:off x="749808" y="507492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2400" b="1" i="0">
                <a:solidFill>
                  <a:srgbClr val="6EE7F9"/>
                </a:solidFill>
                <a:latin typeface="Aptos"/>
                <a:ea typeface="Aptos"/>
              </a:rPr>
              <a:t>「どこに、どんな円を描いたか」が目で分かる</a:t>
            </a:r>
            <a:endParaRPr lang="ja-JP" sz="2400"/>
          </a:p>
        </p:txBody>
      </p:sp>
      <p:sp>
        <p:nvSpPr>
          <p:cNvPr id="49" name="Shape 49"/>
          <p:cNvSpPr/>
          <p:nvPr/>
        </p:nvSpPr>
        <p:spPr>
          <a:xfrm>
            <a:off x="749808" y="559612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0" i="0">
                <a:solidFill>
                  <a:srgbClr val="AFC1D4"/>
                </a:solidFill>
                <a:latin typeface="Aptos"/>
                <a:ea typeface="Aptos"/>
              </a:rPr>
              <a:t>円の形だけでなく、手の動きの軌跡も残る</a:t>
            </a:r>
            <a:endParaRPr lang="ja-JP" sz="1500"/>
          </a:p>
        </p:txBody>
      </p:sp>
      <p:sp>
        <p:nvSpPr>
          <p:cNvPr id="50" name="Shape 50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02</a:t>
            </a:r>
            <a:endParaRPr lang="ja-JP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Shape 51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02  HOW TO USE</a:t>
            </a:r>
            <a:endParaRPr lang="ja-JP" sz="1100"/>
          </a:p>
        </p:txBody>
      </p:sp>
      <p:sp>
        <p:nvSpPr>
          <p:cNvPr id="52" name="Shape 52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使い方は3ステップ</a:t>
            </a:r>
            <a:endParaRPr lang="ja-JP" sz="2800"/>
          </a:p>
        </p:txBody>
      </p:sp>
      <p:sp>
        <p:nvSpPr>
          <p:cNvPr id="53" name="Shape 53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記録が終わると、AR PREVIEWで描いた場所を見返せる</a:t>
            </a:r>
            <a:endParaRPr lang="ja-JP" sz="1400"/>
          </a:p>
        </p:txBody>
      </p:sp>
      <p:sp>
        <p:nvSpPr>
          <p:cNvPr id="54" name="Shape 54"/>
          <p:cNvSpPr/>
          <p:nvPr/>
        </p:nvSpPr>
        <p:spPr>
          <a:xfrm>
            <a:off x="594360" y="2331720"/>
            <a:ext cx="1938528" cy="14447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55" name="Shape 55"/>
          <p:cNvSpPr/>
          <p:nvPr/>
        </p:nvSpPr>
        <p:spPr>
          <a:xfrm>
            <a:off x="749808" y="25603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AFC1D4"/>
                </a:solidFill>
                <a:latin typeface="Aptos"/>
                <a:ea typeface="Aptos"/>
              </a:rPr>
              <a:t>HOME</a:t>
            </a:r>
            <a:endParaRPr lang="ja-JP" sz="1100"/>
          </a:p>
        </p:txBody>
      </p:sp>
      <p:sp>
        <p:nvSpPr>
          <p:cNvPr id="56" name="Shape 56"/>
          <p:cNvSpPr/>
          <p:nvPr/>
        </p:nvSpPr>
        <p:spPr>
          <a:xfrm>
            <a:off x="749808" y="28803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START</a:t>
            </a:r>
            <a:endParaRPr lang="ja-JP" sz="1500"/>
          </a:p>
        </p:txBody>
      </p:sp>
      <p:sp>
        <p:nvSpPr>
          <p:cNvPr id="57" name="Shape 57"/>
          <p:cNvSpPr/>
          <p:nvPr/>
        </p:nvSpPr>
        <p:spPr>
          <a:xfrm>
            <a:off x="749808" y="32186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アプリを開く</a:t>
            </a:r>
            <a:endParaRPr lang="ja-JP" sz="1100"/>
          </a:p>
        </p:txBody>
      </p:sp>
      <p:cxnSp>
        <p:nvCxnSpPr>
          <p:cNvPr id="58" name="Line 58"/>
          <p:cNvCxnSpPr/>
          <p:nvPr/>
        </p:nvCxnSpPr>
        <p:spPr>
          <a:xfrm>
            <a:off x="2578608" y="3063240"/>
            <a:ext cx="2286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59" name="Shape 59"/>
          <p:cNvSpPr/>
          <p:nvPr/>
        </p:nvSpPr>
        <p:spPr>
          <a:xfrm>
            <a:off x="2880360" y="2331720"/>
            <a:ext cx="1938528" cy="14447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60" name="Shape 60"/>
          <p:cNvSpPr/>
          <p:nvPr/>
        </p:nvSpPr>
        <p:spPr>
          <a:xfrm>
            <a:off x="3035808" y="25603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AFC1D4"/>
                </a:solidFill>
                <a:latin typeface="Aptos"/>
                <a:ea typeface="Aptos"/>
              </a:rPr>
              <a:t>TRACKING</a:t>
            </a:r>
            <a:endParaRPr lang="ja-JP" sz="1100"/>
          </a:p>
        </p:txBody>
      </p:sp>
      <p:sp>
        <p:nvSpPr>
          <p:cNvPr id="61" name="Shape 61"/>
          <p:cNvSpPr/>
          <p:nvPr/>
        </p:nvSpPr>
        <p:spPr>
          <a:xfrm>
            <a:off x="3035808" y="28803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3秒静止</a:t>
            </a:r>
            <a:endParaRPr lang="ja-JP" sz="1500"/>
          </a:p>
        </p:txBody>
      </p:sp>
      <p:sp>
        <p:nvSpPr>
          <p:cNvPr id="62" name="Shape 62"/>
          <p:cNvSpPr/>
          <p:nvPr/>
        </p:nvSpPr>
        <p:spPr>
          <a:xfrm>
            <a:off x="3035808" y="32186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スタート位置を決める</a:t>
            </a:r>
            <a:endParaRPr lang="ja-JP" sz="1100"/>
          </a:p>
        </p:txBody>
      </p:sp>
      <p:cxnSp>
        <p:nvCxnSpPr>
          <p:cNvPr id="63" name="Line 63"/>
          <p:cNvCxnSpPr/>
          <p:nvPr/>
        </p:nvCxnSpPr>
        <p:spPr>
          <a:xfrm>
            <a:off x="4864608" y="3063240"/>
            <a:ext cx="2286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64" name="Shape 64"/>
          <p:cNvSpPr/>
          <p:nvPr/>
        </p:nvSpPr>
        <p:spPr>
          <a:xfrm>
            <a:off x="5166360" y="2331720"/>
            <a:ext cx="1938528" cy="14447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65" name="Shape 65"/>
          <p:cNvSpPr/>
          <p:nvPr/>
        </p:nvSpPr>
        <p:spPr>
          <a:xfrm>
            <a:off x="5321808" y="25603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AFC1D4"/>
                </a:solidFill>
                <a:latin typeface="Aptos"/>
                <a:ea typeface="Aptos"/>
              </a:rPr>
              <a:t>TRACKING</a:t>
            </a:r>
            <a:endParaRPr lang="ja-JP" sz="1100"/>
          </a:p>
        </p:txBody>
      </p:sp>
      <p:sp>
        <p:nvSpPr>
          <p:cNvPr id="66" name="Shape 66"/>
          <p:cNvSpPr/>
          <p:nvPr/>
        </p:nvSpPr>
        <p:spPr>
          <a:xfrm>
            <a:off x="5321808" y="28803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円を描く</a:t>
            </a:r>
            <a:endParaRPr lang="ja-JP" sz="1500"/>
          </a:p>
        </p:txBody>
      </p:sp>
      <p:sp>
        <p:nvSpPr>
          <p:cNvPr id="67" name="Shape 67"/>
          <p:cNvSpPr/>
          <p:nvPr/>
        </p:nvSpPr>
        <p:spPr>
          <a:xfrm>
            <a:off x="5321808" y="32186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iPhoneを動かす</a:t>
            </a:r>
            <a:endParaRPr lang="ja-JP" sz="1100"/>
          </a:p>
        </p:txBody>
      </p:sp>
      <p:cxnSp>
        <p:nvCxnSpPr>
          <p:cNvPr id="68" name="Line 68"/>
          <p:cNvCxnSpPr/>
          <p:nvPr/>
        </p:nvCxnSpPr>
        <p:spPr>
          <a:xfrm>
            <a:off x="7150608" y="3063240"/>
            <a:ext cx="2286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69" name="Shape 69"/>
          <p:cNvSpPr/>
          <p:nvPr/>
        </p:nvSpPr>
        <p:spPr>
          <a:xfrm>
            <a:off x="7452360" y="2331720"/>
            <a:ext cx="1938528" cy="1444752"/>
          </a:xfrm>
          <a:prstGeom prst="roundRect">
            <a:avLst/>
          </a:prstGeom>
          <a:solidFill>
            <a:srgbClr val="173C4D"/>
          </a:solidFill>
          <a:ln w="12700">
            <a:solidFill>
              <a:srgbClr val="6EE7F9"/>
            </a:solidFill>
          </a:ln>
        </p:spPr>
      </p:sp>
      <p:sp>
        <p:nvSpPr>
          <p:cNvPr id="70" name="Shape 70"/>
          <p:cNvSpPr/>
          <p:nvPr/>
        </p:nvSpPr>
        <p:spPr>
          <a:xfrm>
            <a:off x="7607808" y="25603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TRACKING</a:t>
            </a:r>
            <a:endParaRPr lang="ja-JP" sz="1100"/>
          </a:p>
        </p:txBody>
      </p:sp>
      <p:sp>
        <p:nvSpPr>
          <p:cNvPr id="71" name="Shape 71"/>
          <p:cNvSpPr/>
          <p:nvPr/>
        </p:nvSpPr>
        <p:spPr>
          <a:xfrm>
            <a:off x="7607808" y="28803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AR PREVIEW</a:t>
            </a:r>
            <a:endParaRPr lang="ja-JP" sz="1500"/>
          </a:p>
        </p:txBody>
      </p:sp>
      <p:sp>
        <p:nvSpPr>
          <p:cNvPr id="72" name="Shape 72"/>
          <p:cNvSpPr/>
          <p:nvPr/>
        </p:nvSpPr>
        <p:spPr>
          <a:xfrm>
            <a:off x="7607808" y="32186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描いた場所を見る</a:t>
            </a:r>
            <a:endParaRPr lang="ja-JP" sz="1100"/>
          </a:p>
        </p:txBody>
      </p:sp>
      <p:cxnSp>
        <p:nvCxnSpPr>
          <p:cNvPr id="73" name="Line 73"/>
          <p:cNvCxnSpPr/>
          <p:nvPr/>
        </p:nvCxnSpPr>
        <p:spPr>
          <a:xfrm>
            <a:off x="9436608" y="3063240"/>
            <a:ext cx="2286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74" name="Shape 74"/>
          <p:cNvSpPr/>
          <p:nvPr/>
        </p:nvSpPr>
        <p:spPr>
          <a:xfrm>
            <a:off x="9738360" y="2331720"/>
            <a:ext cx="1938528" cy="14447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75" name="Shape 75"/>
          <p:cNvSpPr/>
          <p:nvPr/>
        </p:nvSpPr>
        <p:spPr>
          <a:xfrm>
            <a:off x="9893808" y="25603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AFC1D4"/>
                </a:solidFill>
                <a:latin typeface="Aptos"/>
                <a:ea typeface="Aptos"/>
              </a:rPr>
              <a:t>RESULT</a:t>
            </a:r>
            <a:endParaRPr lang="ja-JP" sz="1100"/>
          </a:p>
        </p:txBody>
      </p:sp>
      <p:sp>
        <p:nvSpPr>
          <p:cNvPr id="76" name="Shape 76"/>
          <p:cNvSpPr/>
          <p:nvPr/>
        </p:nvSpPr>
        <p:spPr>
          <a:xfrm>
            <a:off x="9893808" y="28803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結果を見る</a:t>
            </a:r>
            <a:endParaRPr lang="ja-JP" sz="1500"/>
          </a:p>
        </p:txBody>
      </p:sp>
      <p:sp>
        <p:nvSpPr>
          <p:cNvPr id="77" name="Shape 77"/>
          <p:cNvSpPr/>
          <p:nvPr/>
        </p:nvSpPr>
        <p:spPr>
          <a:xfrm>
            <a:off x="9893808" y="32186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採点・もう一度</a:t>
            </a:r>
            <a:endParaRPr lang="ja-JP" sz="1100"/>
          </a:p>
        </p:txBody>
      </p:sp>
      <p:sp>
        <p:nvSpPr>
          <p:cNvPr id="78" name="Shape 78"/>
          <p:cNvSpPr/>
          <p:nvPr/>
        </p:nvSpPr>
        <p:spPr>
          <a:xfrm>
            <a:off x="731520" y="44348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6EE7F9"/>
                </a:solidFill>
                <a:latin typeface="Aptos"/>
                <a:ea typeface="Aptos"/>
              </a:rPr>
              <a:t>覚えておくこと</a:t>
            </a:r>
            <a:endParaRPr lang="ja-JP" sz="1500"/>
          </a:p>
        </p:txBody>
      </p:sp>
      <p:sp>
        <p:nvSpPr>
          <p:cNvPr id="79" name="Shape 79"/>
          <p:cNvSpPr/>
          <p:nvPr/>
        </p:nvSpPr>
        <p:spPr>
          <a:xfrm>
            <a:off x="749808" y="489204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500" b="0" i="0">
                <a:solidFill>
                  <a:srgbClr val="F5FAFF"/>
                </a:solidFill>
                <a:latin typeface="Aptos"/>
                <a:ea typeface="Aptos"/>
              </a:rPr>
              <a:t>• 最初に3秒間、iPhoneを動かさない
• 円を描き終えたらAR PREVIEWを押す
• RETRYで最初からやり直せる</a:t>
            </a:r>
            <a:endParaRPr lang="ja-JP" sz="1500"/>
          </a:p>
        </p:txBody>
      </p:sp>
      <p:sp>
        <p:nvSpPr>
          <p:cNvPr id="80" name="Shape 80"/>
          <p:cNvSpPr/>
          <p:nvPr/>
        </p:nvSpPr>
        <p:spPr>
          <a:xfrm>
            <a:off x="6675120" y="4407408"/>
            <a:ext cx="4572000" cy="1417320"/>
          </a:xfrm>
          <a:prstGeom prst="roundRect">
            <a:avLst/>
          </a:prstGeom>
          <a:solidFill>
            <a:srgbClr val="0D2B3A"/>
          </a:solidFill>
          <a:ln w="12700">
            <a:solidFill>
              <a:srgbClr val="6EE7F9"/>
            </a:solidFill>
          </a:ln>
        </p:spPr>
      </p:sp>
      <p:sp>
        <p:nvSpPr>
          <p:cNvPr id="81" name="Shape 81"/>
          <p:cNvSpPr/>
          <p:nvPr/>
        </p:nvSpPr>
        <p:spPr>
          <a:xfrm>
            <a:off x="6995160" y="468172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2000" b="1" i="0">
                <a:solidFill>
                  <a:srgbClr val="6EE7F9"/>
                </a:solidFill>
                <a:latin typeface="Aptos"/>
                <a:ea typeface="Aptos"/>
              </a:rPr>
              <a:t>AR PREVIEW</a:t>
            </a:r>
            <a:endParaRPr lang="ja-JP" sz="2000"/>
          </a:p>
        </p:txBody>
      </p:sp>
      <p:sp>
        <p:nvSpPr>
          <p:cNvPr id="82" name="Shape 82"/>
          <p:cNvSpPr/>
          <p:nvPr/>
        </p:nvSpPr>
        <p:spPr>
          <a:xfrm>
            <a:off x="6995160" y="50749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enter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描いた場所を確認してから
結果画面へ進める</a:t>
            </a:r>
            <a:endParaRPr lang="ja-JP" sz="1400"/>
          </a:p>
        </p:txBody>
      </p:sp>
      <p:sp>
        <p:nvSpPr>
          <p:cNvPr id="83" name="Shape 83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03</a:t>
            </a:r>
            <a:endParaRPr lang="ja-JP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4" name="Shape 84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03  AR PREVIEW</a:t>
            </a:r>
            <a:endParaRPr lang="ja-JP" sz="1100"/>
          </a:p>
        </p:txBody>
      </p:sp>
      <p:sp>
        <p:nvSpPr>
          <p:cNvPr id="85" name="Shape 85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AR PREVIEWで見えるもの</a:t>
            </a:r>
            <a:endParaRPr lang="ja-JP" sz="2800"/>
          </a:p>
        </p:txBody>
      </p:sp>
      <p:sp>
        <p:nvSpPr>
          <p:cNvPr id="86" name="Shape 86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カメラを向けると、描いた軌跡が小さな点になって現れる</a:t>
            </a:r>
            <a:endParaRPr lang="ja-JP" sz="1400"/>
          </a:p>
        </p:txBody>
      </p:sp>
      <p:sp>
        <p:nvSpPr>
          <p:cNvPr id="87" name="Shape 87"/>
          <p:cNvSpPr/>
          <p:nvPr/>
        </p:nvSpPr>
        <p:spPr>
          <a:xfrm>
            <a:off x="685800" y="1920240"/>
            <a:ext cx="4754880" cy="384048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29445D"/>
            </a:solidFill>
          </a:ln>
        </p:spPr>
      </p:sp>
      <p:sp>
        <p:nvSpPr>
          <p:cNvPr id="88" name="Shape 88"/>
          <p:cNvSpPr/>
          <p:nvPr/>
        </p:nvSpPr>
        <p:spPr>
          <a:xfrm>
            <a:off x="960120" y="21945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1" i="0">
                <a:solidFill>
                  <a:srgbClr val="AFC1D4"/>
                </a:solidFill>
                <a:latin typeface="Aptos"/>
                <a:ea typeface="Aptos"/>
              </a:rPr>
              <a:t>カメラに映る空間</a:t>
            </a:r>
            <a:endParaRPr lang="ja-JP" sz="1400"/>
          </a:p>
        </p:txBody>
      </p:sp>
      <p:cxnSp>
        <p:nvCxnSpPr>
          <p:cNvPr id="89" name="Line 89"/>
          <p:cNvCxnSpPr/>
          <p:nvPr/>
        </p:nvCxnSpPr>
        <p:spPr>
          <a:xfrm>
            <a:off x="1234440" y="5074920"/>
            <a:ext cx="3246120" cy="0"/>
          </a:xfrm>
          <a:prstGeom prst="line">
            <a:avLst/>
          </a:prstGeom>
          <a:ln w="25400">
            <a:solidFill>
              <a:srgbClr val="FFB86B"/>
            </a:solidFill>
            <a:tailEnd type="triangle"/>
          </a:ln>
        </p:spPr>
      </p:cxnSp>
      <p:cxnSp>
        <p:nvCxnSpPr>
          <p:cNvPr id="90" name="Line 90"/>
          <p:cNvCxnSpPr/>
          <p:nvPr/>
        </p:nvCxnSpPr>
        <p:spPr>
          <a:xfrm>
            <a:off x="1234440" y="5074920"/>
            <a:ext cx="0" cy="-2377440"/>
          </a:xfrm>
          <a:prstGeom prst="line">
            <a:avLst/>
          </a:prstGeom>
          <a:ln w="25400">
            <a:solidFill>
              <a:srgbClr val="86E6B1"/>
            </a:solidFill>
            <a:tailEnd type="triangle"/>
          </a:ln>
        </p:spPr>
      </p:cxnSp>
      <p:cxnSp>
        <p:nvCxnSpPr>
          <p:cNvPr id="91" name="Line 91"/>
          <p:cNvCxnSpPr/>
          <p:nvPr/>
        </p:nvCxnSpPr>
        <p:spPr>
          <a:xfrm>
            <a:off x="1234440" y="5074920"/>
            <a:ext cx="1234440" cy="-1234440"/>
          </a:xfrm>
          <a:prstGeom prst="line">
            <a:avLst/>
          </a:prstGeom>
          <a:ln w="25400">
            <a:solidFill>
              <a:srgbClr val="2CA6F7"/>
            </a:solidFill>
            <a:tailEnd type="triangle"/>
          </a:ln>
        </p:spPr>
      </p:cxnSp>
      <p:sp>
        <p:nvSpPr>
          <p:cNvPr id="92" name="Shape 92"/>
          <p:cNvSpPr/>
          <p:nvPr/>
        </p:nvSpPr>
        <p:spPr>
          <a:xfrm>
            <a:off x="4498848" y="495604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FFB86B"/>
                </a:solidFill>
                <a:latin typeface="Aptos"/>
                <a:ea typeface="Aptos"/>
              </a:rPr>
              <a:t>X</a:t>
            </a:r>
            <a:endParaRPr lang="ja-JP" sz="1100"/>
          </a:p>
        </p:txBody>
      </p:sp>
      <p:sp>
        <p:nvSpPr>
          <p:cNvPr id="93" name="Shape 93"/>
          <p:cNvSpPr/>
          <p:nvPr/>
        </p:nvSpPr>
        <p:spPr>
          <a:xfrm>
            <a:off x="1097280" y="2487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86E6B1"/>
                </a:solidFill>
                <a:latin typeface="Aptos"/>
                <a:ea typeface="Aptos"/>
              </a:rPr>
              <a:t>Y</a:t>
            </a:r>
            <a:endParaRPr lang="ja-JP" sz="1100"/>
          </a:p>
        </p:txBody>
      </p:sp>
      <p:sp>
        <p:nvSpPr>
          <p:cNvPr id="94" name="Shape 94"/>
          <p:cNvSpPr/>
          <p:nvPr/>
        </p:nvSpPr>
        <p:spPr>
          <a:xfrm>
            <a:off x="2523744" y="362102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2CA6F7"/>
                </a:solidFill>
                <a:latin typeface="Aptos"/>
                <a:ea typeface="Aptos"/>
              </a:rPr>
              <a:t>Z</a:t>
            </a:r>
            <a:endParaRPr lang="ja-JP" sz="1100"/>
          </a:p>
        </p:txBody>
      </p:sp>
      <p:sp>
        <p:nvSpPr>
          <p:cNvPr id="95" name="Shape 95"/>
          <p:cNvSpPr/>
          <p:nvPr/>
        </p:nvSpPr>
        <p:spPr>
          <a:xfrm>
            <a:off x="2331720" y="3977640"/>
            <a:ext cx="146304" cy="146304"/>
          </a:xfrm>
          <a:prstGeom prst="roundRect">
            <a:avLst/>
          </a:prstGeom>
          <a:solidFill>
            <a:srgbClr val="FFB86B"/>
          </a:solidFill>
          <a:ln>
            <a:noFill/>
          </a:ln>
        </p:spPr>
      </p:sp>
      <p:sp>
        <p:nvSpPr>
          <p:cNvPr id="96" name="Shape 96"/>
          <p:cNvSpPr/>
          <p:nvPr/>
        </p:nvSpPr>
        <p:spPr>
          <a:xfrm>
            <a:off x="2514600" y="386791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200" b="1" i="0">
                <a:solidFill>
                  <a:srgbClr val="FFB86B"/>
                </a:solidFill>
                <a:latin typeface="Aptos"/>
                <a:ea typeface="Aptos"/>
              </a:rPr>
              <a:t>origin</a:t>
            </a:r>
            <a:endParaRPr lang="ja-JP" sz="1200"/>
          </a:p>
        </p:txBody>
      </p:sp>
      <p:sp>
        <p:nvSpPr>
          <p:cNvPr id="97" name="Shape 97"/>
          <p:cNvSpPr/>
          <p:nvPr/>
        </p:nvSpPr>
        <p:spPr>
          <a:xfrm>
            <a:off x="1920240" y="352044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98" name="Shape 98"/>
          <p:cNvSpPr/>
          <p:nvPr/>
        </p:nvSpPr>
        <p:spPr>
          <a:xfrm>
            <a:off x="2468880" y="315468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99" name="Shape 99"/>
          <p:cNvSpPr/>
          <p:nvPr/>
        </p:nvSpPr>
        <p:spPr>
          <a:xfrm>
            <a:off x="3108960" y="324612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00" name="Shape 100"/>
          <p:cNvSpPr/>
          <p:nvPr/>
        </p:nvSpPr>
        <p:spPr>
          <a:xfrm>
            <a:off x="3657600" y="361188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3886200" y="425196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02" name="Shape 102"/>
          <p:cNvSpPr/>
          <p:nvPr/>
        </p:nvSpPr>
        <p:spPr>
          <a:xfrm>
            <a:off x="3657600" y="470916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03" name="Shape 103"/>
          <p:cNvSpPr/>
          <p:nvPr/>
        </p:nvSpPr>
        <p:spPr>
          <a:xfrm>
            <a:off x="3063240" y="489204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04" name="Shape 104"/>
          <p:cNvSpPr/>
          <p:nvPr/>
        </p:nvSpPr>
        <p:spPr>
          <a:xfrm>
            <a:off x="2423160" y="475488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05" name="Shape 105"/>
          <p:cNvSpPr/>
          <p:nvPr/>
        </p:nvSpPr>
        <p:spPr>
          <a:xfrm>
            <a:off x="1965960" y="429768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06" name="Shape 106"/>
          <p:cNvSpPr/>
          <p:nvPr/>
        </p:nvSpPr>
        <p:spPr>
          <a:xfrm>
            <a:off x="5897880" y="20116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700" b="1" i="0">
                <a:solidFill>
                  <a:srgbClr val="6EE7F9"/>
                </a:solidFill>
                <a:latin typeface="Aptos"/>
                <a:ea typeface="Aptos"/>
              </a:rPr>
              <a:t>描いた場所を基準にする</a:t>
            </a:r>
            <a:endParaRPr lang="ja-JP" sz="1700"/>
          </a:p>
        </p:txBody>
      </p:sp>
      <p:sp>
        <p:nvSpPr>
          <p:cNvPr id="107" name="Shape 107"/>
          <p:cNvSpPr/>
          <p:nvPr/>
        </p:nvSpPr>
        <p:spPr>
          <a:xfrm>
            <a:off x="5897880" y="2560320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700" b="0" i="0">
                <a:solidFill>
                  <a:srgbClr val="F5FAFF"/>
                </a:solidFill>
                <a:latin typeface="Aptos"/>
                <a:ea typeface="Aptos"/>
              </a:rPr>
              <a:t>1  最初に決めたスタート位置を基準にする
2  記録した点を、その位置から並べる</a:t>
            </a:r>
            <a:endParaRPr lang="ja-JP" sz="1700"/>
          </a:p>
        </p:txBody>
      </p:sp>
      <p:cxnSp>
        <p:nvCxnSpPr>
          <p:cNvPr id="108" name="Line 108"/>
          <p:cNvCxnSpPr/>
          <p:nvPr/>
        </p:nvCxnSpPr>
        <p:spPr>
          <a:xfrm>
            <a:off x="5897880" y="3657600"/>
            <a:ext cx="4800600" cy="0"/>
          </a:xfrm>
          <a:prstGeom prst="line">
            <a:avLst/>
          </a:prstGeom>
          <a:ln w="12700">
            <a:solidFill>
              <a:srgbClr val="29445D"/>
            </a:solidFill>
            <a:tailEnd type="triangle"/>
          </a:ln>
        </p:spPr>
      </p:cxnSp>
      <p:sp>
        <p:nvSpPr>
          <p:cNvPr id="109" name="Shape 109"/>
          <p:cNvSpPr/>
          <p:nvPr/>
        </p:nvSpPr>
        <p:spPr>
          <a:xfrm>
            <a:off x="5897880" y="3977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2000" b="1" i="0">
                <a:solidFill>
                  <a:srgbClr val="F5FAFF"/>
                </a:solidFill>
                <a:latin typeface="Aptos"/>
                <a:ea typeface="Aptos"/>
              </a:rPr>
              <a:t>描いた円が、ずれずに浮かぶ</a:t>
            </a:r>
            <a:endParaRPr lang="ja-JP" sz="2000"/>
          </a:p>
        </p:txBody>
      </p:sp>
      <p:sp>
        <p:nvSpPr>
          <p:cNvPr id="110" name="Shape 110"/>
          <p:cNvSpPr/>
          <p:nvPr/>
        </p:nvSpPr>
        <p:spPr>
          <a:xfrm>
            <a:off x="5897880" y="4526280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500" b="0" i="0">
                <a:solidFill>
                  <a:srgbClr val="AFC1D4"/>
                </a:solidFill>
                <a:latin typeface="Aptos"/>
                <a:ea typeface="Aptos"/>
              </a:rPr>
              <a:t>カメラ映像を背景に、
記録した軌跡を同じ空間へ戻して表示</a:t>
            </a:r>
            <a:endParaRPr lang="ja-JP" sz="1500"/>
          </a:p>
        </p:txBody>
      </p:sp>
      <p:sp>
        <p:nvSpPr>
          <p:cNvPr id="111" name="Shape 111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04</a:t>
            </a:r>
            <a:endParaRPr lang="ja-JP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" name="Shape 112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04  BEHIND THE SCENES</a:t>
            </a:r>
            <a:endParaRPr lang="ja-JP" sz="1100"/>
          </a:p>
        </p:txBody>
      </p:sp>
      <p:sp>
        <p:nvSpPr>
          <p:cNvPr id="113" name="Shape 113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アプリの中で起きていること</a:t>
            </a:r>
            <a:endParaRPr lang="ja-JP" sz="2800"/>
          </a:p>
        </p:txBody>
      </p:sp>
      <p:sp>
        <p:nvSpPr>
          <p:cNvPr id="114" name="Shape 114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3つの役割で、動きの記録からAR表示までをつなぐ</a:t>
            </a:r>
            <a:endParaRPr lang="ja-JP" sz="1400"/>
          </a:p>
        </p:txBody>
      </p:sp>
      <p:sp>
        <p:nvSpPr>
          <p:cNvPr id="115" name="Shape 115"/>
          <p:cNvSpPr/>
          <p:nvPr/>
        </p:nvSpPr>
        <p:spPr>
          <a:xfrm>
            <a:off x="822960" y="2057400"/>
            <a:ext cx="2240280" cy="10515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116" name="Shape 116"/>
          <p:cNvSpPr/>
          <p:nvPr/>
        </p:nvSpPr>
        <p:spPr>
          <a:xfrm>
            <a:off x="987552" y="2258568"/>
            <a:ext cx="19110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動きを測る</a:t>
            </a:r>
            <a:endParaRPr lang="ja-JP" sz="1500"/>
          </a:p>
        </p:txBody>
      </p:sp>
      <p:sp>
        <p:nvSpPr>
          <p:cNvPr id="117" name="Shape 117"/>
          <p:cNvSpPr/>
          <p:nvPr/>
        </p:nvSpPr>
        <p:spPr>
          <a:xfrm>
            <a:off x="987552" y="2624328"/>
            <a:ext cx="191109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ARKitでiPhoneの位置を追う</a:t>
            </a:r>
            <a:endParaRPr lang="ja-JP" sz="1100"/>
          </a:p>
        </p:txBody>
      </p:sp>
      <p:sp>
        <p:nvSpPr>
          <p:cNvPr id="118" name="Shape 118"/>
          <p:cNvSpPr/>
          <p:nvPr/>
        </p:nvSpPr>
        <p:spPr>
          <a:xfrm>
            <a:off x="3886200" y="2057400"/>
            <a:ext cx="2834640" cy="10515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119" name="Shape 119"/>
          <p:cNvSpPr/>
          <p:nvPr/>
        </p:nvSpPr>
        <p:spPr>
          <a:xfrm>
            <a:off x="4050792" y="2258568"/>
            <a:ext cx="250545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軌跡を記録</a:t>
            </a:r>
            <a:endParaRPr lang="ja-JP" sz="1500"/>
          </a:p>
        </p:txBody>
      </p:sp>
      <p:sp>
        <p:nvSpPr>
          <p:cNvPr id="120" name="Shape 120"/>
          <p:cNvSpPr/>
          <p:nvPr/>
        </p:nvSpPr>
        <p:spPr>
          <a:xfrm>
            <a:off x="4050792" y="2624328"/>
            <a:ext cx="250545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動いた点を順番に保存</a:t>
            </a:r>
            <a:endParaRPr lang="ja-JP" sz="1100"/>
          </a:p>
        </p:txBody>
      </p:sp>
      <p:sp>
        <p:nvSpPr>
          <p:cNvPr id="121" name="Shape 121"/>
          <p:cNvSpPr/>
          <p:nvPr/>
        </p:nvSpPr>
        <p:spPr>
          <a:xfrm>
            <a:off x="7543800" y="2057400"/>
            <a:ext cx="2880360" cy="10515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122" name="Shape 122"/>
          <p:cNvSpPr/>
          <p:nvPr/>
        </p:nvSpPr>
        <p:spPr>
          <a:xfrm>
            <a:off x="7708392" y="2258568"/>
            <a:ext cx="25511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点をAR表示</a:t>
            </a:r>
            <a:endParaRPr lang="ja-JP" sz="1500"/>
          </a:p>
        </p:txBody>
      </p:sp>
      <p:sp>
        <p:nvSpPr>
          <p:cNvPr id="123" name="Shape 123"/>
          <p:cNvSpPr/>
          <p:nvPr/>
        </p:nvSpPr>
        <p:spPr>
          <a:xfrm>
            <a:off x="7708392" y="2624328"/>
            <a:ext cx="255117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RealityKitで球を置く</a:t>
            </a:r>
            <a:endParaRPr lang="ja-JP" sz="1100"/>
          </a:p>
        </p:txBody>
      </p:sp>
      <p:sp>
        <p:nvSpPr>
          <p:cNvPr id="124" name="Shape 124"/>
          <p:cNvSpPr/>
          <p:nvPr/>
        </p:nvSpPr>
        <p:spPr>
          <a:xfrm>
            <a:off x="1920240" y="4160520"/>
            <a:ext cx="2468880" cy="10515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</p:sp>
      <p:sp>
        <p:nvSpPr>
          <p:cNvPr id="125" name="Shape 125"/>
          <p:cNvSpPr/>
          <p:nvPr/>
        </p:nvSpPr>
        <p:spPr>
          <a:xfrm>
            <a:off x="2084832" y="4361688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形を採点</a:t>
            </a:r>
            <a:endParaRPr lang="ja-JP" sz="1500"/>
          </a:p>
        </p:txBody>
      </p:sp>
      <p:sp>
        <p:nvSpPr>
          <p:cNvPr id="126" name="Shape 126"/>
          <p:cNvSpPr/>
          <p:nvPr/>
        </p:nvSpPr>
        <p:spPr>
          <a:xfrm>
            <a:off x="2084832" y="4727448"/>
            <a:ext cx="213969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円らしさを分析</a:t>
            </a:r>
            <a:endParaRPr lang="ja-JP" sz="1100"/>
          </a:p>
        </p:txBody>
      </p:sp>
      <p:sp>
        <p:nvSpPr>
          <p:cNvPr id="127" name="Shape 127"/>
          <p:cNvSpPr/>
          <p:nvPr/>
        </p:nvSpPr>
        <p:spPr>
          <a:xfrm>
            <a:off x="5532120" y="4160520"/>
            <a:ext cx="2926080" cy="1051560"/>
          </a:xfrm>
          <a:prstGeom prst="roundRect">
            <a:avLst/>
          </a:prstGeom>
          <a:solidFill>
            <a:srgbClr val="173C4D"/>
          </a:solidFill>
          <a:ln w="12700">
            <a:solidFill>
              <a:srgbClr val="6EE7F9"/>
            </a:solidFill>
          </a:ln>
        </p:spPr>
      </p:sp>
      <p:sp>
        <p:nvSpPr>
          <p:cNvPr id="128" name="Shape 128"/>
          <p:cNvSpPr/>
          <p:nvPr/>
        </p:nvSpPr>
        <p:spPr>
          <a:xfrm>
            <a:off x="5696712" y="4361688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6EE7F9"/>
                </a:solidFill>
                <a:latin typeface="Aptos"/>
                <a:ea typeface="Aptos"/>
              </a:rPr>
              <a:t>カメラ映像</a:t>
            </a:r>
            <a:endParaRPr lang="ja-JP" sz="1500"/>
          </a:p>
        </p:txBody>
      </p:sp>
      <p:sp>
        <p:nvSpPr>
          <p:cNvPr id="129" name="Shape 129"/>
          <p:cNvSpPr/>
          <p:nvPr/>
        </p:nvSpPr>
        <p:spPr>
          <a:xfrm>
            <a:off x="5696712" y="4727448"/>
            <a:ext cx="2596896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実際の空間を背景にする</a:t>
            </a:r>
            <a:endParaRPr lang="ja-JP" sz="1100"/>
          </a:p>
        </p:txBody>
      </p:sp>
      <p:cxnSp>
        <p:nvCxnSpPr>
          <p:cNvPr id="130" name="Line 130"/>
          <p:cNvCxnSpPr/>
          <p:nvPr/>
        </p:nvCxnSpPr>
        <p:spPr>
          <a:xfrm>
            <a:off x="3090672" y="2578608"/>
            <a:ext cx="722376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131" name="Line 131"/>
          <p:cNvCxnSpPr/>
          <p:nvPr/>
        </p:nvCxnSpPr>
        <p:spPr>
          <a:xfrm>
            <a:off x="6766560" y="2578608"/>
            <a:ext cx="704088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132" name="Line 132"/>
          <p:cNvCxnSpPr/>
          <p:nvPr/>
        </p:nvCxnSpPr>
        <p:spPr>
          <a:xfrm>
            <a:off x="5285232" y="3127248"/>
            <a:ext cx="-2130552" cy="941832"/>
          </a:xfrm>
          <a:prstGeom prst="line">
            <a:avLst/>
          </a:prstGeom>
          <a:ln w="12700">
            <a:solidFill>
              <a:srgbClr val="29445D"/>
            </a:solidFill>
            <a:tailEnd type="triangle"/>
          </a:ln>
        </p:spPr>
      </p:cxnSp>
      <p:cxnSp>
        <p:nvCxnSpPr>
          <p:cNvPr id="133" name="Line 133"/>
          <p:cNvCxnSpPr/>
          <p:nvPr/>
        </p:nvCxnSpPr>
        <p:spPr>
          <a:xfrm>
            <a:off x="6217920" y="3127248"/>
            <a:ext cx="548640" cy="941832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134" name="Shape 134"/>
          <p:cNvSpPr/>
          <p:nvPr/>
        </p:nvSpPr>
        <p:spPr>
          <a:xfrm>
            <a:off x="822960" y="571500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500" b="1" i="0">
                <a:solidFill>
                  <a:srgbClr val="6EE7F9"/>
                </a:solidFill>
                <a:latin typeface="Aptos"/>
                <a:ea typeface="Aptos"/>
              </a:rPr>
              <a:t>既存の記録・採点機能を活かして、AR表示を追加</a:t>
            </a:r>
            <a:endParaRPr lang="ja-JP" sz="1500"/>
          </a:p>
        </p:txBody>
      </p:sp>
      <p:sp>
        <p:nvSpPr>
          <p:cNvPr id="135" name="Shape 135"/>
          <p:cNvSpPr/>
          <p:nvPr/>
        </p:nvSpPr>
        <p:spPr>
          <a:xfrm>
            <a:off x="822960" y="6053328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200" b="0" i="0">
                <a:solidFill>
                  <a:srgbClr val="AFC1D4"/>
                </a:solidFill>
                <a:latin typeface="Aptos"/>
                <a:ea typeface="Aptos"/>
              </a:rPr>
              <a:t>記録した軌跡を、結果画面だけでなく実空間でも確認できる</a:t>
            </a:r>
            <a:endParaRPr lang="ja-JP" sz="1200"/>
          </a:p>
        </p:txBody>
      </p:sp>
      <p:sp>
        <p:nvSpPr>
          <p:cNvPr id="136" name="Shape 136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05</a:t>
            </a:r>
            <a:endParaRPr lang="ja-JP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7" name="Shape 137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05  TAKEAWAY</a:t>
            </a:r>
            <a:endParaRPr lang="ja-JP" sz="1100"/>
          </a:p>
        </p:txBody>
      </p:sp>
      <p:sp>
        <p:nvSpPr>
          <p:cNvPr id="138" name="Shape 138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このアプリが目指す体験</a:t>
            </a:r>
            <a:endParaRPr lang="ja-JP" sz="2800"/>
          </a:p>
        </p:txBody>
      </p:sp>
      <p:sp>
        <p:nvSpPr>
          <p:cNvPr id="139" name="Shape 139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描いた動きを、数字だけでなく空間で見返す</a:t>
            </a:r>
            <a:endParaRPr lang="ja-JP" sz="1400"/>
          </a:p>
        </p:txBody>
      </p:sp>
      <p:sp>
        <p:nvSpPr>
          <p:cNvPr id="140" name="Shape 140"/>
          <p:cNvSpPr/>
          <p:nvPr/>
        </p:nvSpPr>
        <p:spPr>
          <a:xfrm>
            <a:off x="777240" y="20574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800" b="1" i="0">
                <a:solidFill>
                  <a:srgbClr val="6EE7F9"/>
                </a:solidFill>
                <a:latin typeface="Aptos"/>
                <a:ea typeface="Aptos"/>
              </a:rPr>
              <a:t>できること</a:t>
            </a:r>
            <a:endParaRPr lang="ja-JP" sz="1800"/>
          </a:p>
        </p:txBody>
      </p:sp>
      <p:sp>
        <p:nvSpPr>
          <p:cNvPr id="141" name="Shape 141"/>
          <p:cNvSpPr/>
          <p:nvPr/>
        </p:nvSpPr>
        <p:spPr>
          <a:xfrm>
            <a:off x="804672" y="2606040"/>
            <a:ext cx="512064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600" b="0" i="0">
                <a:solidFill>
                  <a:srgbClr val="F5FAFF"/>
                </a:solidFill>
                <a:latin typeface="Aptos"/>
                <a:ea typeface="Aptos"/>
              </a:rPr>
              <a:t>• iPhoneの移動をARKitで3D記録
• origin基準の相対座標で軌跡を保持
• カメラ映像上に球の点群として再表示
• AR PREVIEWからResultへ進み、RETRYも可能</a:t>
            </a:r>
            <a:endParaRPr lang="ja-JP" sz="1600"/>
          </a:p>
        </p:txBody>
      </p:sp>
      <p:sp>
        <p:nvSpPr>
          <p:cNvPr id="142" name="Shape 142"/>
          <p:cNvSpPr/>
          <p:nvPr/>
        </p:nvSpPr>
        <p:spPr>
          <a:xfrm>
            <a:off x="6400800" y="20574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800" b="1" i="0">
                <a:solidFill>
                  <a:srgbClr val="6EE7F9"/>
                </a:solidFill>
                <a:latin typeface="Aptos"/>
                <a:ea typeface="Aptos"/>
              </a:rPr>
              <a:t>次の拡張候補</a:t>
            </a:r>
            <a:endParaRPr lang="ja-JP" sz="1800"/>
          </a:p>
        </p:txBody>
      </p:sp>
      <p:sp>
        <p:nvSpPr>
          <p:cNvPr id="143" name="Shape 143"/>
          <p:cNvSpPr/>
          <p:nvPr/>
        </p:nvSpPr>
        <p:spPr>
          <a:xfrm>
            <a:off x="6428232" y="2606040"/>
            <a:ext cx="457200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600" b="0" i="0">
                <a:solidFill>
                  <a:srgbClr val="F5FAFF"/>
                </a:solidFill>
                <a:latin typeface="Aptos"/>
                <a:ea typeface="Aptos"/>
              </a:rPr>
              <a:t>• 点群を連続線やチューブへ発展
• 軌跡の色・太さ・再生速度を調整
• 実空間の円との誤差を可視化
• 記録データの保存と比較</a:t>
            </a:r>
            <a:endParaRPr lang="ja-JP" sz="1600"/>
          </a:p>
        </p:txBody>
      </p:sp>
      <p:sp>
        <p:nvSpPr>
          <p:cNvPr id="144" name="Shape 144"/>
          <p:cNvSpPr/>
          <p:nvPr/>
        </p:nvSpPr>
        <p:spPr>
          <a:xfrm>
            <a:off x="777240" y="4892040"/>
            <a:ext cx="10424160" cy="713232"/>
          </a:xfrm>
          <a:prstGeom prst="roundRect">
            <a:avLst/>
          </a:prstGeom>
          <a:solidFill>
            <a:srgbClr val="0D2B3A"/>
          </a:solidFill>
          <a:ln w="12700">
            <a:solidFill>
              <a:srgbClr val="6EE7F9"/>
            </a:solidFill>
          </a:ln>
        </p:spPr>
      </p:sp>
      <p:sp>
        <p:nvSpPr>
          <p:cNvPr id="145" name="Shape 145"/>
          <p:cNvSpPr/>
          <p:nvPr/>
        </p:nvSpPr>
        <p:spPr>
          <a:xfrm>
            <a:off x="1051560" y="507492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1900" b="1" i="0">
                <a:solidFill>
                  <a:srgbClr val="6EE7F9"/>
                </a:solidFill>
                <a:latin typeface="Aptos"/>
                <a:ea typeface="Aptos"/>
              </a:rPr>
              <a:t>記録した動きを、画面の中の数値ではなく、空間の中で確認できる</a:t>
            </a:r>
            <a:endParaRPr lang="ja-JP" sz="1900"/>
          </a:p>
        </p:txBody>
      </p:sp>
      <p:sp>
        <p:nvSpPr>
          <p:cNvPr id="146" name="Shape 146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06</a:t>
            </a:r>
            <a:endParaRPr lang="ja-JP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7" name="Shape 147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06  GIT HISTORY</a:t>
            </a:r>
            <a:endParaRPr lang="ja-JP" sz="1100"/>
          </a:p>
        </p:txBody>
      </p:sp>
      <p:sp>
        <p:nvSpPr>
          <p:cNvPr id="148" name="Shape 148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開発の歩み</a:t>
            </a:r>
            <a:endParaRPr lang="ja-JP" sz="2800"/>
          </a:p>
        </p:txBody>
      </p:sp>
      <p:sp>
        <p:nvSpPr>
          <p:cNvPr id="149" name="Shape 149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機能ごとに枝分かれしながら、記録・採点・AR表示まで積み上げた</a:t>
            </a:r>
            <a:endParaRPr lang="ja-JP" sz="1400"/>
          </a:p>
        </p:txBody>
      </p:sp>
      <p:sp>
        <p:nvSpPr>
          <p:cNvPr id="150" name="Shape 150"/>
          <p:cNvSpPr/>
          <p:nvPr/>
        </p:nvSpPr>
        <p:spPr>
          <a:xfrm>
            <a:off x="749808" y="18745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600" b="1" i="0">
                <a:solidFill>
                  <a:srgbClr val="6EE7F9"/>
                </a:solidFill>
                <a:latin typeface="Aptos"/>
                <a:ea typeface="Aptos"/>
              </a:rPr>
              <a:t>主要なブランチ</a:t>
            </a:r>
            <a:endParaRPr lang="ja-JP" sz="1600"/>
          </a:p>
        </p:txBody>
      </p:sp>
      <p:sp>
        <p:nvSpPr>
          <p:cNvPr id="151" name="Shape 151"/>
          <p:cNvSpPr/>
          <p:nvPr/>
        </p:nvSpPr>
        <p:spPr>
          <a:xfrm>
            <a:off x="822960" y="2377440"/>
            <a:ext cx="694944" cy="384048"/>
          </a:xfrm>
          <a:prstGeom prst="roundRect">
            <a:avLst/>
          </a:prstGeom>
          <a:solidFill>
            <a:srgbClr val="2CA6F7"/>
          </a:solidFill>
          <a:ln>
            <a:noFill/>
          </a:ln>
        </p:spPr>
      </p:sp>
      <p:sp>
        <p:nvSpPr>
          <p:cNvPr id="152" name="Shape 152"/>
          <p:cNvSpPr/>
          <p:nvPr/>
        </p:nvSpPr>
        <p:spPr>
          <a:xfrm>
            <a:off x="822960" y="2468880"/>
            <a:ext cx="694944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1000" b="1" i="0">
                <a:solidFill>
                  <a:srgbClr val="081526"/>
                </a:solidFill>
                <a:latin typeface="Aptos"/>
                <a:ea typeface="Aptos"/>
              </a:rPr>
              <a:t>09/13</a:t>
            </a:r>
            <a:endParaRPr lang="ja-JP" sz="1000"/>
          </a:p>
        </p:txBody>
      </p:sp>
      <p:sp>
        <p:nvSpPr>
          <p:cNvPr id="153" name="Shape 153"/>
          <p:cNvSpPr/>
          <p:nvPr/>
        </p:nvSpPr>
        <p:spPr>
          <a:xfrm>
            <a:off x="1783080" y="23317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300" b="1" i="0">
                <a:solidFill>
                  <a:srgbClr val="F5FAFF"/>
                </a:solidFill>
                <a:latin typeface="Aptos"/>
                <a:ea typeface="Aptos"/>
              </a:rPr>
              <a:t>feature/get_motion</a:t>
            </a:r>
            <a:endParaRPr lang="ja-JP" sz="1300"/>
          </a:p>
        </p:txBody>
      </p:sp>
      <p:sp>
        <p:nvSpPr>
          <p:cNvPr id="154" name="Shape 154"/>
          <p:cNvSpPr/>
          <p:nvPr/>
        </p:nvSpPr>
        <p:spPr>
          <a:xfrm>
            <a:off x="4572000" y="233172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ARKitで位置を取得
原点補正を追加</a:t>
            </a:r>
            <a:endParaRPr lang="ja-JP" sz="1100"/>
          </a:p>
        </p:txBody>
      </p:sp>
      <p:cxnSp>
        <p:nvCxnSpPr>
          <p:cNvPr id="155" name="Line 155"/>
          <p:cNvCxnSpPr/>
          <p:nvPr/>
        </p:nvCxnSpPr>
        <p:spPr>
          <a:xfrm>
            <a:off x="1170432" y="2770632"/>
            <a:ext cx="0" cy="182880"/>
          </a:xfrm>
          <a:prstGeom prst="line">
            <a:avLst/>
          </a:prstGeom>
          <a:ln w="12700">
            <a:solidFill>
              <a:srgbClr val="29445D"/>
            </a:solidFill>
            <a:tailEnd type="triangle"/>
          </a:ln>
        </p:spPr>
      </p:cxnSp>
      <p:sp>
        <p:nvSpPr>
          <p:cNvPr id="156" name="Shape 156"/>
          <p:cNvSpPr/>
          <p:nvPr/>
        </p:nvSpPr>
        <p:spPr>
          <a:xfrm>
            <a:off x="822960" y="3035808"/>
            <a:ext cx="694944" cy="38404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</p:sp>
      <p:sp>
        <p:nvSpPr>
          <p:cNvPr id="157" name="Shape 157"/>
          <p:cNvSpPr/>
          <p:nvPr/>
        </p:nvSpPr>
        <p:spPr>
          <a:xfrm>
            <a:off x="822960" y="3127248"/>
            <a:ext cx="694944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1000" b="1" i="0">
                <a:solidFill>
                  <a:srgbClr val="081526"/>
                </a:solidFill>
                <a:latin typeface="Aptos"/>
                <a:ea typeface="Aptos"/>
              </a:rPr>
              <a:t>09/14</a:t>
            </a:r>
            <a:endParaRPr lang="ja-JP" sz="1000"/>
          </a:p>
        </p:txBody>
      </p:sp>
      <p:sp>
        <p:nvSpPr>
          <p:cNvPr id="158" name="Shape 158"/>
          <p:cNvSpPr/>
          <p:nvPr/>
        </p:nvSpPr>
        <p:spPr>
          <a:xfrm>
            <a:off x="1783080" y="299008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300" b="1" i="0">
                <a:solidFill>
                  <a:srgbClr val="F5FAFF"/>
                </a:solidFill>
                <a:latin typeface="Aptos"/>
                <a:ea typeface="Aptos"/>
              </a:rPr>
              <a:t>feature/trajectory</a:t>
            </a:r>
            <a:endParaRPr lang="ja-JP" sz="1300"/>
          </a:p>
        </p:txBody>
      </p:sp>
      <p:sp>
        <p:nvSpPr>
          <p:cNvPr id="159" name="Shape 159"/>
          <p:cNvSpPr/>
          <p:nvPr/>
        </p:nvSpPr>
        <p:spPr>
          <a:xfrm>
            <a:off x="4572000" y="2990088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3D軌跡をResultへ
点群で表示</a:t>
            </a:r>
            <a:endParaRPr lang="ja-JP" sz="1100"/>
          </a:p>
        </p:txBody>
      </p:sp>
      <p:cxnSp>
        <p:nvCxnSpPr>
          <p:cNvPr id="160" name="Line 160"/>
          <p:cNvCxnSpPr/>
          <p:nvPr/>
        </p:nvCxnSpPr>
        <p:spPr>
          <a:xfrm>
            <a:off x="1170432" y="3429000"/>
            <a:ext cx="0" cy="182880"/>
          </a:xfrm>
          <a:prstGeom prst="line">
            <a:avLst/>
          </a:prstGeom>
          <a:ln w="12700">
            <a:solidFill>
              <a:srgbClr val="29445D"/>
            </a:solidFill>
            <a:tailEnd type="triangle"/>
          </a:ln>
        </p:spPr>
      </p:cxnSp>
      <p:sp>
        <p:nvSpPr>
          <p:cNvPr id="161" name="Shape 161"/>
          <p:cNvSpPr/>
          <p:nvPr/>
        </p:nvSpPr>
        <p:spPr>
          <a:xfrm>
            <a:off x="822960" y="3694176"/>
            <a:ext cx="694944" cy="384048"/>
          </a:xfrm>
          <a:prstGeom prst="roundRect">
            <a:avLst/>
          </a:prstGeom>
          <a:solidFill>
            <a:srgbClr val="86E6B1"/>
          </a:solidFill>
          <a:ln>
            <a:noFill/>
          </a:ln>
        </p:spPr>
      </p:sp>
      <p:sp>
        <p:nvSpPr>
          <p:cNvPr id="162" name="Shape 162"/>
          <p:cNvSpPr/>
          <p:nvPr/>
        </p:nvSpPr>
        <p:spPr>
          <a:xfrm>
            <a:off x="822960" y="3785616"/>
            <a:ext cx="694944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1000" b="1" i="0">
                <a:solidFill>
                  <a:srgbClr val="081526"/>
                </a:solidFill>
                <a:latin typeface="Aptos"/>
                <a:ea typeface="Aptos"/>
              </a:rPr>
              <a:t>09/16</a:t>
            </a:r>
            <a:endParaRPr lang="ja-JP" sz="1000"/>
          </a:p>
        </p:txBody>
      </p:sp>
      <p:sp>
        <p:nvSpPr>
          <p:cNvPr id="163" name="Shape 163"/>
          <p:cNvSpPr/>
          <p:nvPr/>
        </p:nvSpPr>
        <p:spPr>
          <a:xfrm>
            <a:off x="1783080" y="364845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300" b="1" i="0">
                <a:solidFill>
                  <a:srgbClr val="F5FAFF"/>
                </a:solidFill>
                <a:latin typeface="Aptos"/>
                <a:ea typeface="Aptos"/>
              </a:rPr>
              <a:t>feature/tracking_usability</a:t>
            </a:r>
            <a:endParaRPr lang="ja-JP" sz="1300"/>
          </a:p>
        </p:txBody>
      </p:sp>
      <p:sp>
        <p:nvSpPr>
          <p:cNvPr id="164" name="Shape 164"/>
          <p:cNvSpPr/>
          <p:nvPr/>
        </p:nvSpPr>
        <p:spPr>
          <a:xfrm>
            <a:off x="4572000" y="364845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自動記録・停止
Haptic / CIも追加</a:t>
            </a:r>
            <a:endParaRPr lang="ja-JP" sz="1100"/>
          </a:p>
        </p:txBody>
      </p:sp>
      <p:cxnSp>
        <p:nvCxnSpPr>
          <p:cNvPr id="165" name="Line 165"/>
          <p:cNvCxnSpPr/>
          <p:nvPr/>
        </p:nvCxnSpPr>
        <p:spPr>
          <a:xfrm>
            <a:off x="1170432" y="4087368"/>
            <a:ext cx="0" cy="182880"/>
          </a:xfrm>
          <a:prstGeom prst="line">
            <a:avLst/>
          </a:prstGeom>
          <a:ln w="12700">
            <a:solidFill>
              <a:srgbClr val="29445D"/>
            </a:solidFill>
            <a:tailEnd type="triangle"/>
          </a:ln>
        </p:spPr>
      </p:cxnSp>
      <p:sp>
        <p:nvSpPr>
          <p:cNvPr id="166" name="Shape 166"/>
          <p:cNvSpPr/>
          <p:nvPr/>
        </p:nvSpPr>
        <p:spPr>
          <a:xfrm>
            <a:off x="822960" y="4352544"/>
            <a:ext cx="694944" cy="384048"/>
          </a:xfrm>
          <a:prstGeom prst="roundRect">
            <a:avLst/>
          </a:prstGeom>
          <a:solidFill>
            <a:srgbClr val="FFB86B"/>
          </a:solidFill>
          <a:ln>
            <a:noFill/>
          </a:ln>
        </p:spPr>
      </p:sp>
      <p:sp>
        <p:nvSpPr>
          <p:cNvPr id="167" name="Shape 167"/>
          <p:cNvSpPr/>
          <p:nvPr/>
        </p:nvSpPr>
        <p:spPr>
          <a:xfrm>
            <a:off x="822960" y="4443984"/>
            <a:ext cx="694944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1000" b="1" i="0">
                <a:solidFill>
                  <a:srgbClr val="081526"/>
                </a:solidFill>
                <a:latin typeface="Aptos"/>
                <a:ea typeface="Aptos"/>
              </a:rPr>
              <a:t>09/17</a:t>
            </a:r>
            <a:endParaRPr lang="ja-JP" sz="1000"/>
          </a:p>
        </p:txBody>
      </p:sp>
      <p:sp>
        <p:nvSpPr>
          <p:cNvPr id="168" name="Shape 168"/>
          <p:cNvSpPr/>
          <p:nvPr/>
        </p:nvSpPr>
        <p:spPr>
          <a:xfrm>
            <a:off x="1783080" y="430682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300" b="1" i="0">
                <a:solidFill>
                  <a:srgbClr val="F5FAFF"/>
                </a:solidFill>
                <a:latin typeface="Aptos"/>
                <a:ea typeface="Aptos"/>
              </a:rPr>
              <a:t>feature/analysis_score</a:t>
            </a:r>
            <a:endParaRPr lang="ja-JP" sz="1300"/>
          </a:p>
        </p:txBody>
      </p:sp>
      <p:sp>
        <p:nvSpPr>
          <p:cNvPr id="169" name="Shape 169"/>
          <p:cNvSpPr/>
          <p:nvPr/>
        </p:nvSpPr>
        <p:spPr>
          <a:xfrm>
            <a:off x="4572000" y="4306824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最小二乗法で採点
手書きモードも追加</a:t>
            </a:r>
            <a:endParaRPr lang="ja-JP" sz="1100"/>
          </a:p>
        </p:txBody>
      </p:sp>
      <p:cxnSp>
        <p:nvCxnSpPr>
          <p:cNvPr id="170" name="Line 170"/>
          <p:cNvCxnSpPr/>
          <p:nvPr/>
        </p:nvCxnSpPr>
        <p:spPr>
          <a:xfrm>
            <a:off x="1170432" y="4745736"/>
            <a:ext cx="0" cy="182880"/>
          </a:xfrm>
          <a:prstGeom prst="line">
            <a:avLst/>
          </a:prstGeom>
          <a:ln w="12700">
            <a:solidFill>
              <a:srgbClr val="29445D"/>
            </a:solidFill>
            <a:tailEnd type="triangle"/>
          </a:ln>
        </p:spPr>
      </p:cxnSp>
      <p:sp>
        <p:nvSpPr>
          <p:cNvPr id="171" name="Shape 171"/>
          <p:cNvSpPr/>
          <p:nvPr/>
        </p:nvSpPr>
        <p:spPr>
          <a:xfrm>
            <a:off x="822960" y="5010912"/>
            <a:ext cx="694944" cy="384048"/>
          </a:xfrm>
          <a:prstGeom prst="roundRect">
            <a:avLst/>
          </a:prstGeom>
          <a:solidFill>
            <a:srgbClr val="2CA6F7"/>
          </a:solidFill>
          <a:ln>
            <a:noFill/>
          </a:ln>
        </p:spPr>
      </p:sp>
      <p:sp>
        <p:nvSpPr>
          <p:cNvPr id="172" name="Shape 172"/>
          <p:cNvSpPr/>
          <p:nvPr/>
        </p:nvSpPr>
        <p:spPr>
          <a:xfrm>
            <a:off x="822960" y="5102352"/>
            <a:ext cx="694944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1000" b="1" i="0">
                <a:solidFill>
                  <a:srgbClr val="081526"/>
                </a:solidFill>
                <a:latin typeface="Aptos"/>
                <a:ea typeface="Aptos"/>
              </a:rPr>
              <a:t>09/23</a:t>
            </a:r>
            <a:endParaRPr lang="ja-JP" sz="1000"/>
          </a:p>
        </p:txBody>
      </p:sp>
      <p:sp>
        <p:nvSpPr>
          <p:cNvPr id="173" name="Shape 173"/>
          <p:cNvSpPr/>
          <p:nvPr/>
        </p:nvSpPr>
        <p:spPr>
          <a:xfrm>
            <a:off x="1783080" y="496519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300" b="1" i="0">
                <a:solidFill>
                  <a:srgbClr val="F5FAFF"/>
                </a:solidFill>
                <a:latin typeface="Aptos"/>
                <a:ea typeface="Aptos"/>
              </a:rPr>
              <a:t>feature/design</a:t>
            </a:r>
            <a:endParaRPr lang="ja-JP" sz="1300"/>
          </a:p>
        </p:txBody>
      </p:sp>
      <p:sp>
        <p:nvSpPr>
          <p:cNvPr id="174" name="Shape 174"/>
          <p:cNvSpPr/>
          <p:nvPr/>
        </p:nvSpPr>
        <p:spPr>
          <a:xfrm>
            <a:off x="4572000" y="496519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画面デザインを改善
進捗バーを復活</a:t>
            </a:r>
            <a:endParaRPr lang="ja-JP" sz="1100"/>
          </a:p>
        </p:txBody>
      </p:sp>
      <p:sp>
        <p:nvSpPr>
          <p:cNvPr id="175" name="Shape 175"/>
          <p:cNvSpPr/>
          <p:nvPr/>
        </p:nvSpPr>
        <p:spPr>
          <a:xfrm>
            <a:off x="7086600" y="1965960"/>
            <a:ext cx="4069080" cy="3520440"/>
          </a:xfrm>
          <a:prstGeom prst="roundRect">
            <a:avLst/>
          </a:prstGeom>
          <a:solidFill>
            <a:srgbClr val="173C4D"/>
          </a:solidFill>
          <a:ln w="12700">
            <a:solidFill>
              <a:srgbClr val="6EE7F9"/>
            </a:solidFill>
          </a:ln>
        </p:spPr>
      </p:sp>
      <p:sp>
        <p:nvSpPr>
          <p:cNvPr id="176" name="Shape 176"/>
          <p:cNvSpPr/>
          <p:nvPr/>
        </p:nvSpPr>
        <p:spPr>
          <a:xfrm>
            <a:off x="7406640" y="233172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1600" b="1" i="0">
                <a:solidFill>
                  <a:srgbClr val="6EE7F9"/>
                </a:solidFill>
                <a:latin typeface="Aptos"/>
                <a:ea typeface="Aptos"/>
              </a:rPr>
              <a:t>そして現在</a:t>
            </a:r>
            <a:endParaRPr lang="ja-JP" sz="1600"/>
          </a:p>
        </p:txBody>
      </p:sp>
      <p:sp>
        <p:nvSpPr>
          <p:cNvPr id="177" name="Shape 177"/>
          <p:cNvSpPr/>
          <p:nvPr/>
        </p:nvSpPr>
        <p:spPr>
          <a:xfrm>
            <a:off x="7452360" y="2880360"/>
            <a:ext cx="33375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2600" b="1" i="0">
                <a:solidFill>
                  <a:srgbClr val="F5FAFF"/>
                </a:solidFill>
                <a:latin typeface="Aptos"/>
                <a:ea typeface="Aptos"/>
              </a:rPr>
              <a:t>AR PREVIEW</a:t>
            </a:r>
            <a:endParaRPr lang="ja-JP" sz="2600"/>
          </a:p>
        </p:txBody>
      </p:sp>
      <p:sp>
        <p:nvSpPr>
          <p:cNvPr id="178" name="Shape 178"/>
          <p:cNvSpPr/>
          <p:nvPr/>
        </p:nvSpPr>
        <p:spPr>
          <a:xfrm>
            <a:off x="7452360" y="3657600"/>
            <a:ext cx="3337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enter"/>
            <a:r>
              <a:rPr lang="ja-JP" sz="2000" b="1" i="0">
                <a:solidFill>
                  <a:srgbClr val="F5FAFF"/>
                </a:solidFill>
                <a:latin typeface="Aptos"/>
                <a:ea typeface="Aptos"/>
              </a:rPr>
              <a:t>記録した軌跡を
カメラ映像上に表示</a:t>
            </a:r>
            <a:endParaRPr lang="ja-JP" sz="2000"/>
          </a:p>
        </p:txBody>
      </p:sp>
      <p:sp>
        <p:nvSpPr>
          <p:cNvPr id="179" name="Shape 179"/>
          <p:cNvSpPr/>
          <p:nvPr/>
        </p:nvSpPr>
        <p:spPr>
          <a:xfrm>
            <a:off x="7452360" y="4736592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enter"/>
            <a:r>
              <a:rPr lang="ja-JP" sz="1300" b="0" i="0">
                <a:solidFill>
                  <a:srgbClr val="AFC1D4"/>
                </a:solidFill>
                <a:latin typeface="Aptos"/>
                <a:ea typeface="Aptos"/>
              </a:rPr>
              <a:t>originを基準に点群を復元</a:t>
            </a:r>
            <a:endParaRPr lang="ja-JP" sz="1300"/>
          </a:p>
        </p:txBody>
      </p:sp>
      <p:sp>
        <p:nvSpPr>
          <p:cNvPr id="180" name="Shape 180"/>
          <p:cNvSpPr/>
          <p:nvPr/>
        </p:nvSpPr>
        <p:spPr>
          <a:xfrm>
            <a:off x="822960" y="589788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2000" b="1" i="0">
                <a:solidFill>
                  <a:srgbClr val="6EE7F9"/>
                </a:solidFill>
                <a:latin typeface="Aptos"/>
                <a:ea typeface="Aptos"/>
              </a:rPr>
              <a:t>枝分かれした機能を、ひとつの体験に統合</a:t>
            </a:r>
            <a:endParaRPr lang="ja-JP" sz="2000"/>
          </a:p>
        </p:txBody>
      </p:sp>
      <p:sp>
        <p:nvSpPr>
          <p:cNvPr id="181" name="Shape 181"/>
          <p:cNvSpPr/>
          <p:nvPr/>
        </p:nvSpPr>
        <p:spPr>
          <a:xfrm>
            <a:off x="822960" y="6236208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Gitの履歴：get_motion → trajectory → tracking_usability → analysis_score / drawing → design</a:t>
            </a:r>
            <a:endParaRPr lang="ja-JP" sz="1100"/>
          </a:p>
        </p:txBody>
      </p:sp>
      <p:sp>
        <p:nvSpPr>
          <p:cNvPr id="182" name="Shape 182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eft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07</a:t>
            </a:r>
            <a:endParaRPr lang="ja-JP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rcleTracker">
  <a:themeElements>
    <a:clrScheme name="CircleTracker">
      <a:dk1>
        <a:srgbClr val="081526"/>
      </a:dk1>
      <a:lt1>
        <a:srgbClr val="F5FAFF"/>
      </a:lt1>
      <a:dk2>
        <a:srgbClr val="10243A"/>
      </a:dk2>
      <a:lt2>
        <a:srgbClr val="FFFFFF"/>
      </a:lt2>
      <a:accent1>
        <a:srgbClr val="6EE7F9"/>
      </a:accent1>
      <a:accent2>
        <a:srgbClr val="2CA6F7"/>
      </a:accent2>
      <a:accent3>
        <a:srgbClr val="86E6B1"/>
      </a:accent3>
      <a:accent4>
        <a:srgbClr val="FFB86B"/>
      </a:accent4>
      <a:accent5>
        <a:srgbClr val="AFC1D4"/>
      </a:accent5>
      <a:accent6>
        <a:srgbClr val="29445D"/>
      </a:accent6>
      <a:hlink>
        <a:srgbClr val="6EE7F9"/>
      </a:hlink>
      <a:folHlink>
        <a:srgbClr val="6EE7F9"/>
      </a:folHlink>
    </a:clrScheme>
    <a:fontScheme name="CircleTracker">
      <a:majorFont>
        <a:latin typeface="Aptos Display"/>
        <a:ea typeface="Aptos"/>
        <a:cs typeface="Aptos"/>
      </a:majorFont>
      <a:minorFont>
        <a:latin typeface="Aptos"/>
        <a:ea typeface="Aptos"/>
        <a:cs typeface="Aptos"/>
      </a:minorFont>
    </a:fontScheme>
    <a:fmtScheme name="CircleTracker">
      <a:fillStyleLst/>
      <a:lnStyleLst/>
      <a:effectStyleLst/>
      <a:bgFillStyleLst/>
    </a:fmtScheme>
  </a:themeElements>
</a:theme>
</file>