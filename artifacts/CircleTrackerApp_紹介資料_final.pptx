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3232" y="640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1" i="0">
                <a:solidFill>
                  <a:srgbClr val="6EE7F9"/>
                </a:solidFill>
                <a:latin typeface="Aptos"/>
                <a:ea typeface="Aptos"/>
              </a:rPr>
              <a:t>CIRCLETRACKERAPP</a:t>
            </a:r>
            <a:endParaRPr lang="ja-JP" sz="1400"/>
          </a:p>
        </p:txBody>
      </p:sp>
      <p:sp>
        <p:nvSpPr>
          <p:cNvPr id="3" name="Shape 3"/>
          <p:cNvSpPr/>
          <p:nvPr/>
        </p:nvSpPr>
        <p:spPr>
          <a:xfrm>
            <a:off x="713232" y="1325880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3400" b="1" i="0">
                <a:solidFill>
                  <a:srgbClr val="F5FAFF"/>
                </a:solidFill>
                <a:latin typeface="Aptos"/>
                <a:ea typeface="Aptos"/>
              </a:rPr>
              <a:t>描いた円が、
その場所に浮かんで見える</a:t>
            </a:r>
            <a:endParaRPr lang="ja-JP" sz="3400"/>
          </a:p>
        </p:txBody>
      </p:sp>
      <p:sp>
        <p:nvSpPr>
          <p:cNvPr id="4" name="Shape 4"/>
          <p:cNvSpPr/>
          <p:nvPr/>
        </p:nvSpPr>
        <p:spPr>
          <a:xfrm>
            <a:off x="749808" y="315468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0" i="0">
                <a:solidFill>
                  <a:srgbClr val="AFC1D4"/>
                </a:solidFill>
                <a:latin typeface="Aptos"/>
                <a:ea typeface="Aptos"/>
              </a:rPr>
              <a:t>iPhoneを動かして円を描くと、
その軌跡をカメラ越しに見返せる</a:t>
            </a:r>
            <a:endParaRPr lang="ja-JP" sz="1700"/>
          </a:p>
        </p:txBody>
      </p:sp>
      <p:sp>
        <p:nvSpPr>
          <p:cNvPr id="5" name="Shape 5"/>
          <p:cNvSpPr/>
          <p:nvPr/>
        </p:nvSpPr>
        <p:spPr>
          <a:xfrm>
            <a:off x="7315200" y="822960"/>
            <a:ext cx="3931920" cy="530352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7635240" y="1143000"/>
            <a:ext cx="3291840" cy="466344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EE7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8229600" y="192024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8823960" y="160020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9509760" y="173736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10012680" y="224028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0241280" y="292608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10012680" y="365760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9464040" y="416052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732520" y="429768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8183880" y="393192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7973568" y="324612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046720" y="2514600"/>
            <a:ext cx="109728" cy="109728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8" name="Line 18"/>
          <p:cNvCxnSpPr/>
          <p:nvPr/>
        </p:nvCxnSpPr>
        <p:spPr>
          <a:xfrm>
            <a:off x="8183880" y="1993392"/>
            <a:ext cx="64008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19" name="Line 19"/>
          <p:cNvCxnSpPr/>
          <p:nvPr/>
        </p:nvCxnSpPr>
        <p:spPr>
          <a:xfrm>
            <a:off x="8823960" y="1673352"/>
            <a:ext cx="685800" cy="13716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0" name="Line 20"/>
          <p:cNvCxnSpPr/>
          <p:nvPr/>
        </p:nvCxnSpPr>
        <p:spPr>
          <a:xfrm>
            <a:off x="9509760" y="1810512"/>
            <a:ext cx="502920" cy="50292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1" name="Line 21"/>
          <p:cNvCxnSpPr/>
          <p:nvPr/>
        </p:nvCxnSpPr>
        <p:spPr>
          <a:xfrm>
            <a:off x="10012680" y="2313432"/>
            <a:ext cx="228600" cy="68580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2" name="Line 22"/>
          <p:cNvCxnSpPr/>
          <p:nvPr/>
        </p:nvCxnSpPr>
        <p:spPr>
          <a:xfrm>
            <a:off x="10241280" y="2999232"/>
            <a:ext cx="0" cy="73152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3" name="Line 23"/>
          <p:cNvCxnSpPr/>
          <p:nvPr/>
        </p:nvCxnSpPr>
        <p:spPr>
          <a:xfrm>
            <a:off x="10012680" y="3730752"/>
            <a:ext cx="0" cy="50292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4" name="Line 24"/>
          <p:cNvCxnSpPr/>
          <p:nvPr/>
        </p:nvCxnSpPr>
        <p:spPr>
          <a:xfrm>
            <a:off x="9464040" y="4233672"/>
            <a:ext cx="0" cy="13716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5" name="Line 25"/>
          <p:cNvCxnSpPr/>
          <p:nvPr/>
        </p:nvCxnSpPr>
        <p:spPr>
          <a:xfrm>
            <a:off x="8732520" y="4370832"/>
            <a:ext cx="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6" name="Line 26"/>
          <p:cNvCxnSpPr/>
          <p:nvPr/>
        </p:nvCxnSpPr>
        <p:spPr>
          <a:xfrm>
            <a:off x="8183880" y="4005072"/>
            <a:ext cx="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7" name="Line 27"/>
          <p:cNvCxnSpPr/>
          <p:nvPr/>
        </p:nvCxnSpPr>
        <p:spPr>
          <a:xfrm>
            <a:off x="7973568" y="3319272"/>
            <a:ext cx="73152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28" name="Line 28"/>
          <p:cNvCxnSpPr/>
          <p:nvPr/>
        </p:nvCxnSpPr>
        <p:spPr>
          <a:xfrm>
            <a:off x="8046720" y="2587752"/>
            <a:ext cx="13716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29" name="Shape 29"/>
          <p:cNvSpPr/>
          <p:nvPr/>
        </p:nvSpPr>
        <p:spPr>
          <a:xfrm>
            <a:off x="7909560" y="5212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TRACK  →  ANALYZE  →  SEE</a:t>
            </a:r>
            <a:endParaRPr lang="ja-JP" sz="1100"/>
          </a:p>
        </p:txBody>
      </p:sp>
      <p:sp>
        <p:nvSpPr>
          <p:cNvPr id="30" name="Shape 30"/>
          <p:cNvSpPr/>
          <p:nvPr/>
        </p:nvSpPr>
        <p:spPr>
          <a:xfrm>
            <a:off x="749808" y="608076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000" b="0" i="0">
                <a:solidFill>
                  <a:srgbClr val="AFC1D4"/>
                </a:solidFill>
                <a:latin typeface="Aptos"/>
                <a:ea typeface="Aptos"/>
              </a:rPr>
              <a:t>プロジェクト紹介資料  |  2026</a:t>
            </a:r>
            <a:endParaRPr lang="ja-JP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01  WHAT IT DOES</a:t>
            </a:r>
            <a:endParaRPr lang="ja-JP" sz="1100"/>
          </a:p>
        </p:txBody>
      </p:sp>
      <p:sp>
        <p:nvSpPr>
          <p:cNvPr id="32" name="Shape 32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このアプリでできること</a:t>
            </a:r>
            <a:endParaRPr lang="ja-JP" sz="2800"/>
          </a:p>
        </p:txBody>
      </p:sp>
      <p:sp>
        <p:nvSpPr>
          <p:cNvPr id="33" name="Shape 33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iPhoneで描いた円を、あとから同じ空間で確認する</a:t>
            </a:r>
            <a:endParaRPr lang="ja-JP" sz="1400"/>
          </a:p>
        </p:txBody>
      </p:sp>
      <p:sp>
        <p:nvSpPr>
          <p:cNvPr id="34" name="Shape 34"/>
          <p:cNvSpPr/>
          <p:nvPr/>
        </p:nvSpPr>
        <p:spPr>
          <a:xfrm>
            <a:off x="731520" y="2148840"/>
            <a:ext cx="3154680" cy="237744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5"/>
          <p:cNvSpPr/>
          <p:nvPr/>
        </p:nvSpPr>
        <p:spPr>
          <a:xfrm>
            <a:off x="960120" y="2423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1" i="0">
                <a:solidFill>
                  <a:srgbClr val="2CA6F7"/>
                </a:solidFill>
                <a:latin typeface="Aptos"/>
                <a:ea typeface="Aptos"/>
              </a:rPr>
              <a:t>01</a:t>
            </a:r>
            <a:endParaRPr lang="ja-JP" sz="1400"/>
          </a:p>
        </p:txBody>
      </p:sp>
      <p:sp>
        <p:nvSpPr>
          <p:cNvPr id="36" name="Shape 36"/>
          <p:cNvSpPr/>
          <p:nvPr/>
        </p:nvSpPr>
        <p:spPr>
          <a:xfrm>
            <a:off x="96012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900" b="1" i="0">
                <a:solidFill>
                  <a:srgbClr val="F5FAFF"/>
                </a:solidFill>
                <a:latin typeface="Aptos"/>
                <a:ea typeface="Aptos"/>
              </a:rPr>
              <a:t>じっとする</a:t>
            </a:r>
            <a:endParaRPr lang="ja-JP" sz="1900"/>
          </a:p>
        </p:txBody>
      </p:sp>
      <p:sp>
        <p:nvSpPr>
          <p:cNvPr id="37" name="Shape 37"/>
          <p:cNvSpPr/>
          <p:nvPr/>
        </p:nvSpPr>
        <p:spPr>
          <a:xfrm>
            <a:off x="960120" y="33375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 b="0" i="0">
                <a:solidFill>
                  <a:srgbClr val="AFC1D4"/>
                </a:solidFill>
                <a:latin typeface="Aptos"/>
                <a:ea typeface="Aptos"/>
              </a:rPr>
              <a:t>3秒間静止して
スタート位置を決める</a:t>
            </a:r>
            <a:endParaRPr lang="ja-JP" sz="1600"/>
          </a:p>
        </p:txBody>
      </p:sp>
      <p:cxnSp>
        <p:nvCxnSpPr>
          <p:cNvPr id="38" name="Line 38"/>
          <p:cNvCxnSpPr/>
          <p:nvPr/>
        </p:nvCxnSpPr>
        <p:spPr>
          <a:xfrm>
            <a:off x="3977640" y="3337560"/>
            <a:ext cx="4572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39" name="Shape 39"/>
          <p:cNvSpPr/>
          <p:nvPr/>
        </p:nvSpPr>
        <p:spPr>
          <a:xfrm>
            <a:off x="4526280" y="2148840"/>
            <a:ext cx="3154680" cy="237744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40"/>
          <p:cNvSpPr/>
          <p:nvPr/>
        </p:nvSpPr>
        <p:spPr>
          <a:xfrm>
            <a:off x="4754880" y="2423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1" i="0">
                <a:solidFill>
                  <a:srgbClr val="6EE7F9"/>
                </a:solidFill>
                <a:latin typeface="Aptos"/>
                <a:ea typeface="Aptos"/>
              </a:rPr>
              <a:t>02</a:t>
            </a:r>
            <a:endParaRPr lang="ja-JP" sz="1400"/>
          </a:p>
        </p:txBody>
      </p:sp>
      <p:sp>
        <p:nvSpPr>
          <p:cNvPr id="41" name="Shape 41"/>
          <p:cNvSpPr/>
          <p:nvPr/>
        </p:nvSpPr>
        <p:spPr>
          <a:xfrm>
            <a:off x="475488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900" b="1" i="0">
                <a:solidFill>
                  <a:srgbClr val="F5FAFF"/>
                </a:solidFill>
                <a:latin typeface="Aptos"/>
                <a:ea typeface="Aptos"/>
              </a:rPr>
              <a:t>円を描く</a:t>
            </a:r>
            <a:endParaRPr lang="ja-JP" sz="1900"/>
          </a:p>
        </p:txBody>
      </p:sp>
      <p:sp>
        <p:nvSpPr>
          <p:cNvPr id="42" name="Shape 42"/>
          <p:cNvSpPr/>
          <p:nvPr/>
        </p:nvSpPr>
        <p:spPr>
          <a:xfrm>
            <a:off x="4754880" y="33375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 b="0" i="0">
                <a:solidFill>
                  <a:srgbClr val="AFC1D4"/>
                </a:solidFill>
                <a:latin typeface="Aptos"/>
                <a:ea typeface="Aptos"/>
              </a:rPr>
              <a:t>iPhoneを動かして
空中に円を描く</a:t>
            </a:r>
            <a:endParaRPr lang="ja-JP" sz="1600"/>
          </a:p>
        </p:txBody>
      </p:sp>
      <p:cxnSp>
        <p:nvCxnSpPr>
          <p:cNvPr id="43" name="Line 43"/>
          <p:cNvCxnSpPr/>
          <p:nvPr/>
        </p:nvCxnSpPr>
        <p:spPr>
          <a:xfrm>
            <a:off x="7772400" y="3337560"/>
            <a:ext cx="4572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44" name="Shape 44"/>
          <p:cNvSpPr/>
          <p:nvPr/>
        </p:nvSpPr>
        <p:spPr>
          <a:xfrm>
            <a:off x="8321040" y="2148840"/>
            <a:ext cx="3154680" cy="237744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5"/>
          <p:cNvSpPr/>
          <p:nvPr/>
        </p:nvSpPr>
        <p:spPr>
          <a:xfrm>
            <a:off x="8549640" y="2423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1" i="0">
                <a:solidFill>
                  <a:srgbClr val="86E6B1"/>
                </a:solidFill>
                <a:latin typeface="Aptos"/>
                <a:ea typeface="Aptos"/>
              </a:rPr>
              <a:t>03</a:t>
            </a:r>
            <a:endParaRPr lang="ja-JP" sz="1400"/>
          </a:p>
        </p:txBody>
      </p:sp>
      <p:sp>
        <p:nvSpPr>
          <p:cNvPr id="46" name="Shape 46"/>
          <p:cNvSpPr/>
          <p:nvPr/>
        </p:nvSpPr>
        <p:spPr>
          <a:xfrm>
            <a:off x="8549640" y="28163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900" b="1" i="0">
                <a:solidFill>
                  <a:srgbClr val="F5FAFF"/>
                </a:solidFill>
                <a:latin typeface="Aptos"/>
                <a:ea typeface="Aptos"/>
              </a:rPr>
              <a:t>カメラで見る</a:t>
            </a:r>
            <a:endParaRPr lang="ja-JP" sz="1900"/>
          </a:p>
        </p:txBody>
      </p:sp>
      <p:sp>
        <p:nvSpPr>
          <p:cNvPr id="47" name="Shape 47"/>
          <p:cNvSpPr/>
          <p:nvPr/>
        </p:nvSpPr>
        <p:spPr>
          <a:xfrm>
            <a:off x="8549640" y="33375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 b="0" i="0">
                <a:solidFill>
                  <a:srgbClr val="AFC1D4"/>
                </a:solidFill>
                <a:latin typeface="Aptos"/>
                <a:ea typeface="Aptos"/>
              </a:rPr>
              <a:t>描いた場所に
軌跡が浮かんで見える</a:t>
            </a:r>
            <a:endParaRPr lang="ja-JP" sz="1600"/>
          </a:p>
        </p:txBody>
      </p:sp>
      <p:sp>
        <p:nvSpPr>
          <p:cNvPr id="48" name="Shape 48"/>
          <p:cNvSpPr/>
          <p:nvPr/>
        </p:nvSpPr>
        <p:spPr>
          <a:xfrm>
            <a:off x="749808" y="50749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400" b="1" i="0">
                <a:solidFill>
                  <a:srgbClr val="6EE7F9"/>
                </a:solidFill>
                <a:latin typeface="Aptos"/>
                <a:ea typeface="Aptos"/>
              </a:rPr>
              <a:t>「どこに、どんな円を描いたか」が目で分かる</a:t>
            </a:r>
            <a:endParaRPr lang="ja-JP" sz="2400"/>
          </a:p>
        </p:txBody>
      </p:sp>
      <p:sp>
        <p:nvSpPr>
          <p:cNvPr id="49" name="Shape 49"/>
          <p:cNvSpPr/>
          <p:nvPr/>
        </p:nvSpPr>
        <p:spPr>
          <a:xfrm>
            <a:off x="749808" y="559612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0" i="0">
                <a:solidFill>
                  <a:srgbClr val="AFC1D4"/>
                </a:solidFill>
                <a:latin typeface="Aptos"/>
                <a:ea typeface="Aptos"/>
              </a:rPr>
              <a:t>円の形だけでなく、手の動きの軌跡も残る</a:t>
            </a:r>
            <a:endParaRPr lang="ja-JP" sz="1500"/>
          </a:p>
        </p:txBody>
      </p:sp>
      <p:sp>
        <p:nvSpPr>
          <p:cNvPr id="50" name="Shape 50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02</a:t>
            </a:r>
            <a:endParaRPr lang="ja-JP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02  HOW TO USE</a:t>
            </a:r>
            <a:endParaRPr lang="ja-JP" sz="1100"/>
          </a:p>
        </p:txBody>
      </p:sp>
      <p:sp>
        <p:nvSpPr>
          <p:cNvPr id="52" name="Shape 52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使い方は3ステップ</a:t>
            </a:r>
            <a:endParaRPr lang="ja-JP" sz="2800"/>
          </a:p>
        </p:txBody>
      </p:sp>
      <p:sp>
        <p:nvSpPr>
          <p:cNvPr id="53" name="Shape 53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記録が終わると、AR PREVIEWで描いた場所を見返せる</a:t>
            </a:r>
            <a:endParaRPr lang="ja-JP" sz="1400"/>
          </a:p>
        </p:txBody>
      </p:sp>
      <p:sp>
        <p:nvSpPr>
          <p:cNvPr id="54" name="Shape 54"/>
          <p:cNvSpPr/>
          <p:nvPr/>
        </p:nvSpPr>
        <p:spPr>
          <a:xfrm>
            <a:off x="594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5"/>
          <p:cNvSpPr/>
          <p:nvPr/>
        </p:nvSpPr>
        <p:spPr>
          <a:xfrm>
            <a:off x="749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HOME</a:t>
            </a:r>
            <a:endParaRPr lang="ja-JP" sz="1100"/>
          </a:p>
        </p:txBody>
      </p:sp>
      <p:sp>
        <p:nvSpPr>
          <p:cNvPr id="56" name="Shape 56"/>
          <p:cNvSpPr/>
          <p:nvPr/>
        </p:nvSpPr>
        <p:spPr>
          <a:xfrm>
            <a:off x="749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START</a:t>
            </a:r>
            <a:endParaRPr lang="ja-JP" sz="1500"/>
          </a:p>
        </p:txBody>
      </p:sp>
      <p:sp>
        <p:nvSpPr>
          <p:cNvPr id="57" name="Shape 57"/>
          <p:cNvSpPr/>
          <p:nvPr/>
        </p:nvSpPr>
        <p:spPr>
          <a:xfrm>
            <a:off x="749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アプリを開く</a:t>
            </a:r>
            <a:endParaRPr lang="ja-JP" sz="1100"/>
          </a:p>
        </p:txBody>
      </p:sp>
      <p:cxnSp>
        <p:nvCxnSpPr>
          <p:cNvPr id="58" name="Line 58"/>
          <p:cNvCxnSpPr/>
          <p:nvPr/>
        </p:nvCxnSpPr>
        <p:spPr>
          <a:xfrm>
            <a:off x="2578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59" name="Shape 59"/>
          <p:cNvSpPr/>
          <p:nvPr/>
        </p:nvSpPr>
        <p:spPr>
          <a:xfrm>
            <a:off x="2880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60"/>
          <p:cNvSpPr/>
          <p:nvPr/>
        </p:nvSpPr>
        <p:spPr>
          <a:xfrm>
            <a:off x="3035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TRACKING</a:t>
            </a:r>
            <a:endParaRPr lang="ja-JP" sz="1100"/>
          </a:p>
        </p:txBody>
      </p:sp>
      <p:sp>
        <p:nvSpPr>
          <p:cNvPr id="61" name="Shape 61"/>
          <p:cNvSpPr/>
          <p:nvPr/>
        </p:nvSpPr>
        <p:spPr>
          <a:xfrm>
            <a:off x="3035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3秒静止</a:t>
            </a:r>
            <a:endParaRPr lang="ja-JP" sz="1500"/>
          </a:p>
        </p:txBody>
      </p:sp>
      <p:sp>
        <p:nvSpPr>
          <p:cNvPr id="62" name="Shape 62"/>
          <p:cNvSpPr/>
          <p:nvPr/>
        </p:nvSpPr>
        <p:spPr>
          <a:xfrm>
            <a:off x="3035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スタート位置を決める</a:t>
            </a:r>
            <a:endParaRPr lang="ja-JP" sz="1100"/>
          </a:p>
        </p:txBody>
      </p:sp>
      <p:cxnSp>
        <p:nvCxnSpPr>
          <p:cNvPr id="63" name="Line 63"/>
          <p:cNvCxnSpPr/>
          <p:nvPr/>
        </p:nvCxnSpPr>
        <p:spPr>
          <a:xfrm>
            <a:off x="4864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64" name="Shape 64"/>
          <p:cNvSpPr/>
          <p:nvPr/>
        </p:nvSpPr>
        <p:spPr>
          <a:xfrm>
            <a:off x="5166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5"/>
          <p:cNvSpPr/>
          <p:nvPr/>
        </p:nvSpPr>
        <p:spPr>
          <a:xfrm>
            <a:off x="5321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TRACKING</a:t>
            </a:r>
            <a:endParaRPr lang="ja-JP" sz="1100"/>
          </a:p>
        </p:txBody>
      </p:sp>
      <p:sp>
        <p:nvSpPr>
          <p:cNvPr id="66" name="Shape 66"/>
          <p:cNvSpPr/>
          <p:nvPr/>
        </p:nvSpPr>
        <p:spPr>
          <a:xfrm>
            <a:off x="5321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円を描く</a:t>
            </a:r>
            <a:endParaRPr lang="ja-JP" sz="1500"/>
          </a:p>
        </p:txBody>
      </p:sp>
      <p:sp>
        <p:nvSpPr>
          <p:cNvPr id="67" name="Shape 67"/>
          <p:cNvSpPr/>
          <p:nvPr/>
        </p:nvSpPr>
        <p:spPr>
          <a:xfrm>
            <a:off x="5321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iPhoneを動かす</a:t>
            </a:r>
            <a:endParaRPr lang="ja-JP" sz="1100"/>
          </a:p>
        </p:txBody>
      </p:sp>
      <p:cxnSp>
        <p:nvCxnSpPr>
          <p:cNvPr id="68" name="Line 68"/>
          <p:cNvCxnSpPr/>
          <p:nvPr/>
        </p:nvCxnSpPr>
        <p:spPr>
          <a:xfrm>
            <a:off x="7150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69" name="Shape 69"/>
          <p:cNvSpPr/>
          <p:nvPr/>
        </p:nvSpPr>
        <p:spPr>
          <a:xfrm>
            <a:off x="7452360" y="2331720"/>
            <a:ext cx="1938528" cy="1444752"/>
          </a:xfrm>
          <a:prstGeom prst="roundRect">
            <a:avLst/>
          </a:prstGeom>
          <a:solidFill>
            <a:srgbClr val="173C4D"/>
          </a:solidFill>
          <a:ln w="12700">
            <a:solidFill>
              <a:srgbClr val="6EE7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70"/>
          <p:cNvSpPr/>
          <p:nvPr/>
        </p:nvSpPr>
        <p:spPr>
          <a:xfrm>
            <a:off x="7607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TRACKING</a:t>
            </a:r>
            <a:endParaRPr lang="ja-JP" sz="1100"/>
          </a:p>
        </p:txBody>
      </p:sp>
      <p:sp>
        <p:nvSpPr>
          <p:cNvPr id="71" name="Shape 71"/>
          <p:cNvSpPr/>
          <p:nvPr/>
        </p:nvSpPr>
        <p:spPr>
          <a:xfrm>
            <a:off x="7607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AR PREVIEW</a:t>
            </a:r>
            <a:endParaRPr lang="ja-JP" sz="1500"/>
          </a:p>
        </p:txBody>
      </p:sp>
      <p:sp>
        <p:nvSpPr>
          <p:cNvPr id="72" name="Shape 72"/>
          <p:cNvSpPr/>
          <p:nvPr/>
        </p:nvSpPr>
        <p:spPr>
          <a:xfrm>
            <a:off x="7607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描いた場所を見る</a:t>
            </a:r>
            <a:endParaRPr lang="ja-JP" sz="1100"/>
          </a:p>
        </p:txBody>
      </p:sp>
      <p:cxnSp>
        <p:nvCxnSpPr>
          <p:cNvPr id="73" name="Line 73"/>
          <p:cNvCxnSpPr/>
          <p:nvPr/>
        </p:nvCxnSpPr>
        <p:spPr>
          <a:xfrm>
            <a:off x="9436608" y="3063240"/>
            <a:ext cx="228600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74" name="Shape 74"/>
          <p:cNvSpPr/>
          <p:nvPr/>
        </p:nvSpPr>
        <p:spPr>
          <a:xfrm>
            <a:off x="9738360" y="2331720"/>
            <a:ext cx="1938528" cy="1444752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5"/>
          <p:cNvSpPr/>
          <p:nvPr/>
        </p:nvSpPr>
        <p:spPr>
          <a:xfrm>
            <a:off x="9893808" y="256032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AFC1D4"/>
                </a:solidFill>
                <a:latin typeface="Aptos"/>
                <a:ea typeface="Aptos"/>
              </a:rPr>
              <a:t>RESULT</a:t>
            </a:r>
            <a:endParaRPr lang="ja-JP" sz="1100"/>
          </a:p>
        </p:txBody>
      </p:sp>
      <p:sp>
        <p:nvSpPr>
          <p:cNvPr id="76" name="Shape 76"/>
          <p:cNvSpPr/>
          <p:nvPr/>
        </p:nvSpPr>
        <p:spPr>
          <a:xfrm>
            <a:off x="9893808" y="288036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結果を見る</a:t>
            </a:r>
            <a:endParaRPr lang="ja-JP" sz="1500"/>
          </a:p>
        </p:txBody>
      </p:sp>
      <p:sp>
        <p:nvSpPr>
          <p:cNvPr id="77" name="Shape 77"/>
          <p:cNvSpPr/>
          <p:nvPr/>
        </p:nvSpPr>
        <p:spPr>
          <a:xfrm>
            <a:off x="9893808" y="3218688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採点・もう一度</a:t>
            </a:r>
            <a:endParaRPr lang="ja-JP" sz="1100"/>
          </a:p>
        </p:txBody>
      </p:sp>
      <p:sp>
        <p:nvSpPr>
          <p:cNvPr id="78" name="Shape 78"/>
          <p:cNvSpPr/>
          <p:nvPr/>
        </p:nvSpPr>
        <p:spPr>
          <a:xfrm>
            <a:off x="731520" y="443484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6EE7F9"/>
                </a:solidFill>
                <a:latin typeface="Aptos"/>
                <a:ea typeface="Aptos"/>
              </a:rPr>
              <a:t>覚えておくこと</a:t>
            </a:r>
            <a:endParaRPr lang="ja-JP" sz="1500"/>
          </a:p>
        </p:txBody>
      </p:sp>
      <p:sp>
        <p:nvSpPr>
          <p:cNvPr id="79" name="Shape 79"/>
          <p:cNvSpPr/>
          <p:nvPr/>
        </p:nvSpPr>
        <p:spPr>
          <a:xfrm>
            <a:off x="749808" y="489204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500" b="0" i="0">
                <a:solidFill>
                  <a:srgbClr val="F5FAFF"/>
                </a:solidFill>
                <a:latin typeface="Aptos"/>
                <a:ea typeface="Aptos"/>
              </a:rPr>
              <a:t>• 最初に3秒間、iPhoneを動かさない
• 円を描き終えたらAR PREVIEWを押す
• RETRYで最初からやり直せる</a:t>
            </a:r>
            <a:endParaRPr lang="ja-JP" sz="1500"/>
          </a:p>
        </p:txBody>
      </p:sp>
      <p:sp>
        <p:nvSpPr>
          <p:cNvPr id="80" name="Shape 80"/>
          <p:cNvSpPr/>
          <p:nvPr/>
        </p:nvSpPr>
        <p:spPr>
          <a:xfrm>
            <a:off x="6675120" y="4407408"/>
            <a:ext cx="4572000" cy="1417320"/>
          </a:xfrm>
          <a:prstGeom prst="roundRect">
            <a:avLst/>
          </a:prstGeom>
          <a:solidFill>
            <a:srgbClr val="0D2B3A"/>
          </a:solidFill>
          <a:ln w="12700">
            <a:solidFill>
              <a:srgbClr val="6EE7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81"/>
          <p:cNvSpPr/>
          <p:nvPr/>
        </p:nvSpPr>
        <p:spPr>
          <a:xfrm>
            <a:off x="6995160" y="468172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000" b="1" i="0">
                <a:solidFill>
                  <a:srgbClr val="6EE7F9"/>
                </a:solidFill>
                <a:latin typeface="Aptos"/>
                <a:ea typeface="Aptos"/>
              </a:rPr>
              <a:t>AR PREVIEW</a:t>
            </a:r>
            <a:endParaRPr lang="ja-JP" sz="2000"/>
          </a:p>
        </p:txBody>
      </p:sp>
      <p:sp>
        <p:nvSpPr>
          <p:cNvPr id="82" name="Shape 82"/>
          <p:cNvSpPr/>
          <p:nvPr/>
        </p:nvSpPr>
        <p:spPr>
          <a:xfrm>
            <a:off x="6995160" y="50749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描いた場所を確認してから
結果画面へ進める</a:t>
            </a:r>
            <a:endParaRPr lang="ja-JP" sz="1400"/>
          </a:p>
        </p:txBody>
      </p:sp>
      <p:sp>
        <p:nvSpPr>
          <p:cNvPr id="83" name="Shape 83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03</a:t>
            </a:r>
            <a:endParaRPr lang="ja-JP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03  AR PREVIEW</a:t>
            </a:r>
            <a:endParaRPr lang="ja-JP" sz="1100"/>
          </a:p>
        </p:txBody>
      </p:sp>
      <p:sp>
        <p:nvSpPr>
          <p:cNvPr id="85" name="Shape 85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AR PREVIEWで見えるもの</a:t>
            </a:r>
            <a:endParaRPr lang="ja-JP" sz="2800"/>
          </a:p>
        </p:txBody>
      </p:sp>
      <p:sp>
        <p:nvSpPr>
          <p:cNvPr id="86" name="Shape 86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カメラを向けると、描いた軌跡が小さな点になって現れる</a:t>
            </a:r>
            <a:endParaRPr lang="ja-JP" sz="1400"/>
          </a:p>
        </p:txBody>
      </p:sp>
      <p:sp>
        <p:nvSpPr>
          <p:cNvPr id="87" name="Shape 87"/>
          <p:cNvSpPr/>
          <p:nvPr/>
        </p:nvSpPr>
        <p:spPr>
          <a:xfrm>
            <a:off x="685800" y="1920240"/>
            <a:ext cx="4754880" cy="3840480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8"/>
          <p:cNvSpPr/>
          <p:nvPr/>
        </p:nvSpPr>
        <p:spPr>
          <a:xfrm>
            <a:off x="960120" y="21945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1" i="0">
                <a:solidFill>
                  <a:srgbClr val="AFC1D4"/>
                </a:solidFill>
                <a:latin typeface="Aptos"/>
                <a:ea typeface="Aptos"/>
              </a:rPr>
              <a:t>カメラに映る空間</a:t>
            </a:r>
            <a:endParaRPr lang="ja-JP" sz="1400"/>
          </a:p>
        </p:txBody>
      </p:sp>
      <p:cxnSp>
        <p:nvCxnSpPr>
          <p:cNvPr id="89" name="Line 89"/>
          <p:cNvCxnSpPr/>
          <p:nvPr/>
        </p:nvCxnSpPr>
        <p:spPr>
          <a:xfrm>
            <a:off x="1234440" y="5074920"/>
            <a:ext cx="3246120" cy="0"/>
          </a:xfrm>
          <a:prstGeom prst="line">
            <a:avLst/>
          </a:prstGeom>
          <a:ln w="25400">
            <a:solidFill>
              <a:srgbClr val="FFB86B"/>
            </a:solidFill>
            <a:tailEnd type="triangle"/>
          </a:ln>
        </p:spPr>
      </p:cxnSp>
      <p:cxnSp>
        <p:nvCxnSpPr>
          <p:cNvPr id="90" name="Line 90"/>
          <p:cNvCxnSpPr/>
          <p:nvPr/>
        </p:nvCxnSpPr>
        <p:spPr>
          <a:xfrm>
            <a:off x="1234440" y="5074920"/>
            <a:ext cx="0" cy="0"/>
          </a:xfrm>
          <a:prstGeom prst="line">
            <a:avLst/>
          </a:prstGeom>
          <a:ln w="25400">
            <a:solidFill>
              <a:srgbClr val="86E6B1"/>
            </a:solidFill>
            <a:tailEnd type="triangle"/>
          </a:ln>
        </p:spPr>
      </p:cxnSp>
      <p:cxnSp>
        <p:nvCxnSpPr>
          <p:cNvPr id="91" name="Line 91"/>
          <p:cNvCxnSpPr/>
          <p:nvPr/>
        </p:nvCxnSpPr>
        <p:spPr>
          <a:xfrm>
            <a:off x="1234440" y="5074920"/>
            <a:ext cx="1234440" cy="0"/>
          </a:xfrm>
          <a:prstGeom prst="line">
            <a:avLst/>
          </a:prstGeom>
          <a:ln w="25400">
            <a:solidFill>
              <a:srgbClr val="2CA6F7"/>
            </a:solidFill>
            <a:tailEnd type="triangle"/>
          </a:ln>
        </p:spPr>
      </p:cxnSp>
      <p:sp>
        <p:nvSpPr>
          <p:cNvPr id="92" name="Shape 92"/>
          <p:cNvSpPr/>
          <p:nvPr/>
        </p:nvSpPr>
        <p:spPr>
          <a:xfrm>
            <a:off x="4498848" y="495604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FFB86B"/>
                </a:solidFill>
                <a:latin typeface="Aptos"/>
                <a:ea typeface="Aptos"/>
              </a:rPr>
              <a:t>X</a:t>
            </a:r>
            <a:endParaRPr lang="ja-JP" sz="1100"/>
          </a:p>
        </p:txBody>
      </p:sp>
      <p:sp>
        <p:nvSpPr>
          <p:cNvPr id="93" name="Shape 93"/>
          <p:cNvSpPr/>
          <p:nvPr/>
        </p:nvSpPr>
        <p:spPr>
          <a:xfrm>
            <a:off x="1097280" y="2487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86E6B1"/>
                </a:solidFill>
                <a:latin typeface="Aptos"/>
                <a:ea typeface="Aptos"/>
              </a:rPr>
              <a:t>Y</a:t>
            </a:r>
            <a:endParaRPr lang="ja-JP" sz="1100"/>
          </a:p>
        </p:txBody>
      </p:sp>
      <p:sp>
        <p:nvSpPr>
          <p:cNvPr id="94" name="Shape 94"/>
          <p:cNvSpPr/>
          <p:nvPr/>
        </p:nvSpPr>
        <p:spPr>
          <a:xfrm>
            <a:off x="2523744" y="362102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2CA6F7"/>
                </a:solidFill>
                <a:latin typeface="Aptos"/>
                <a:ea typeface="Aptos"/>
              </a:rPr>
              <a:t>Z</a:t>
            </a:r>
            <a:endParaRPr lang="ja-JP" sz="1100"/>
          </a:p>
        </p:txBody>
      </p:sp>
      <p:sp>
        <p:nvSpPr>
          <p:cNvPr id="95" name="Shape 95"/>
          <p:cNvSpPr/>
          <p:nvPr/>
        </p:nvSpPr>
        <p:spPr>
          <a:xfrm>
            <a:off x="2331720" y="3977640"/>
            <a:ext cx="146304" cy="146304"/>
          </a:xfrm>
          <a:prstGeom prst="roundRect">
            <a:avLst/>
          </a:prstGeom>
          <a:solidFill>
            <a:srgbClr val="FFB8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6"/>
          <p:cNvSpPr/>
          <p:nvPr/>
        </p:nvSpPr>
        <p:spPr>
          <a:xfrm>
            <a:off x="2514600" y="386791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200" b="1" i="0">
                <a:solidFill>
                  <a:srgbClr val="FFB86B"/>
                </a:solidFill>
                <a:latin typeface="Aptos"/>
                <a:ea typeface="Aptos"/>
              </a:rPr>
              <a:t>origin</a:t>
            </a:r>
            <a:endParaRPr lang="ja-JP" sz="1200"/>
          </a:p>
        </p:txBody>
      </p:sp>
      <p:sp>
        <p:nvSpPr>
          <p:cNvPr id="97" name="Shape 97"/>
          <p:cNvSpPr/>
          <p:nvPr/>
        </p:nvSpPr>
        <p:spPr>
          <a:xfrm>
            <a:off x="1920240" y="352044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8"/>
          <p:cNvSpPr/>
          <p:nvPr/>
        </p:nvSpPr>
        <p:spPr>
          <a:xfrm>
            <a:off x="2468880" y="31546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9"/>
          <p:cNvSpPr/>
          <p:nvPr/>
        </p:nvSpPr>
        <p:spPr>
          <a:xfrm>
            <a:off x="3108960" y="324612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100"/>
          <p:cNvSpPr/>
          <p:nvPr/>
        </p:nvSpPr>
        <p:spPr>
          <a:xfrm>
            <a:off x="3657600" y="36118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3886200" y="425196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2"/>
          <p:cNvSpPr/>
          <p:nvPr/>
        </p:nvSpPr>
        <p:spPr>
          <a:xfrm>
            <a:off x="3657600" y="470916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3"/>
          <p:cNvSpPr/>
          <p:nvPr/>
        </p:nvSpPr>
        <p:spPr>
          <a:xfrm>
            <a:off x="3063240" y="489204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2423160" y="47548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5"/>
          <p:cNvSpPr/>
          <p:nvPr/>
        </p:nvSpPr>
        <p:spPr>
          <a:xfrm>
            <a:off x="1965960" y="4297680"/>
            <a:ext cx="100584" cy="100584"/>
          </a:xfrm>
          <a:prstGeom prst="roundRect">
            <a:avLst/>
          </a:prstGeom>
          <a:solidFill>
            <a:srgbClr val="6EE7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6"/>
          <p:cNvSpPr/>
          <p:nvPr/>
        </p:nvSpPr>
        <p:spPr>
          <a:xfrm>
            <a:off x="5897880" y="201168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700" b="1" i="0">
                <a:solidFill>
                  <a:srgbClr val="6EE7F9"/>
                </a:solidFill>
                <a:latin typeface="Aptos"/>
                <a:ea typeface="Aptos"/>
              </a:rPr>
              <a:t>描いた場所を基準にする</a:t>
            </a:r>
            <a:endParaRPr lang="ja-JP" sz="1700"/>
          </a:p>
        </p:txBody>
      </p:sp>
      <p:sp>
        <p:nvSpPr>
          <p:cNvPr id="107" name="Shape 107"/>
          <p:cNvSpPr/>
          <p:nvPr/>
        </p:nvSpPr>
        <p:spPr>
          <a:xfrm>
            <a:off x="5897880" y="256032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700" b="0" i="0">
                <a:solidFill>
                  <a:srgbClr val="F5FAFF"/>
                </a:solidFill>
                <a:latin typeface="Aptos"/>
                <a:ea typeface="Aptos"/>
              </a:rPr>
              <a:t>1  最初に決めたスタート位置を基準にする
2  記録した点を、その位置から並べる</a:t>
            </a:r>
            <a:endParaRPr lang="ja-JP" sz="1700"/>
          </a:p>
        </p:txBody>
      </p:sp>
      <p:cxnSp>
        <p:nvCxnSpPr>
          <p:cNvPr id="108" name="Line 108"/>
          <p:cNvCxnSpPr/>
          <p:nvPr/>
        </p:nvCxnSpPr>
        <p:spPr>
          <a:xfrm>
            <a:off x="5897880" y="3657600"/>
            <a:ext cx="4800600" cy="0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sp>
        <p:nvSpPr>
          <p:cNvPr id="109" name="Shape 109"/>
          <p:cNvSpPr/>
          <p:nvPr/>
        </p:nvSpPr>
        <p:spPr>
          <a:xfrm>
            <a:off x="5897880" y="39776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000" b="1" i="0">
                <a:solidFill>
                  <a:srgbClr val="F5FAFF"/>
                </a:solidFill>
                <a:latin typeface="Aptos"/>
                <a:ea typeface="Aptos"/>
              </a:rPr>
              <a:t>描いた円が、ずれずに浮かぶ</a:t>
            </a:r>
            <a:endParaRPr lang="ja-JP" sz="2000"/>
          </a:p>
        </p:txBody>
      </p:sp>
      <p:sp>
        <p:nvSpPr>
          <p:cNvPr id="110" name="Shape 110"/>
          <p:cNvSpPr/>
          <p:nvPr/>
        </p:nvSpPr>
        <p:spPr>
          <a:xfrm>
            <a:off x="5897880" y="4526280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500" b="0" i="0">
                <a:solidFill>
                  <a:srgbClr val="AFC1D4"/>
                </a:solidFill>
                <a:latin typeface="Aptos"/>
                <a:ea typeface="Aptos"/>
              </a:rPr>
              <a:t>カメラ映像を背景に、
記録した軌跡を同じ空間へ戻して表示</a:t>
            </a:r>
            <a:endParaRPr lang="ja-JP" sz="1500"/>
          </a:p>
        </p:txBody>
      </p:sp>
      <p:sp>
        <p:nvSpPr>
          <p:cNvPr id="111" name="Shape 111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04</a:t>
            </a:r>
            <a:endParaRPr lang="ja-JP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04  BEHIND THE SCENES</a:t>
            </a:r>
            <a:endParaRPr lang="ja-JP" sz="1100"/>
          </a:p>
        </p:txBody>
      </p:sp>
      <p:sp>
        <p:nvSpPr>
          <p:cNvPr id="113" name="Shape 113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アプリの中で起きていること</a:t>
            </a:r>
            <a:endParaRPr lang="ja-JP" sz="2800"/>
          </a:p>
        </p:txBody>
      </p:sp>
      <p:sp>
        <p:nvSpPr>
          <p:cNvPr id="114" name="Shape 114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3つの役割で、動きの記録からAR表示までをつなぐ</a:t>
            </a:r>
            <a:endParaRPr lang="ja-JP" sz="1400"/>
          </a:p>
        </p:txBody>
      </p:sp>
      <p:sp>
        <p:nvSpPr>
          <p:cNvPr id="115" name="Shape 115"/>
          <p:cNvSpPr/>
          <p:nvPr/>
        </p:nvSpPr>
        <p:spPr>
          <a:xfrm>
            <a:off x="822960" y="2057400"/>
            <a:ext cx="224028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6"/>
          <p:cNvSpPr/>
          <p:nvPr/>
        </p:nvSpPr>
        <p:spPr>
          <a:xfrm>
            <a:off x="987552" y="2258568"/>
            <a:ext cx="1911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動きを測る</a:t>
            </a:r>
            <a:endParaRPr lang="ja-JP" sz="1500"/>
          </a:p>
        </p:txBody>
      </p:sp>
      <p:sp>
        <p:nvSpPr>
          <p:cNvPr id="117" name="Shape 117"/>
          <p:cNvSpPr/>
          <p:nvPr/>
        </p:nvSpPr>
        <p:spPr>
          <a:xfrm>
            <a:off x="987552" y="2624328"/>
            <a:ext cx="191109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ARKitでiPhoneの位置を追う</a:t>
            </a:r>
            <a:endParaRPr lang="ja-JP" sz="1100"/>
          </a:p>
        </p:txBody>
      </p:sp>
      <p:sp>
        <p:nvSpPr>
          <p:cNvPr id="118" name="Shape 118"/>
          <p:cNvSpPr/>
          <p:nvPr/>
        </p:nvSpPr>
        <p:spPr>
          <a:xfrm>
            <a:off x="3886200" y="2057400"/>
            <a:ext cx="283464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9"/>
          <p:cNvSpPr/>
          <p:nvPr/>
        </p:nvSpPr>
        <p:spPr>
          <a:xfrm>
            <a:off x="4050792" y="2258568"/>
            <a:ext cx="25054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軌跡を記録</a:t>
            </a:r>
            <a:endParaRPr lang="ja-JP" sz="1500"/>
          </a:p>
        </p:txBody>
      </p:sp>
      <p:sp>
        <p:nvSpPr>
          <p:cNvPr id="120" name="Shape 120"/>
          <p:cNvSpPr/>
          <p:nvPr/>
        </p:nvSpPr>
        <p:spPr>
          <a:xfrm>
            <a:off x="4050792" y="2624328"/>
            <a:ext cx="250545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動いた点を順番に保存</a:t>
            </a:r>
            <a:endParaRPr lang="ja-JP" sz="1100"/>
          </a:p>
        </p:txBody>
      </p:sp>
      <p:sp>
        <p:nvSpPr>
          <p:cNvPr id="121" name="Shape 121"/>
          <p:cNvSpPr/>
          <p:nvPr/>
        </p:nvSpPr>
        <p:spPr>
          <a:xfrm>
            <a:off x="7543800" y="2057400"/>
            <a:ext cx="288036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2"/>
          <p:cNvSpPr/>
          <p:nvPr/>
        </p:nvSpPr>
        <p:spPr>
          <a:xfrm>
            <a:off x="7708392" y="2258568"/>
            <a:ext cx="255117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点をAR表示</a:t>
            </a:r>
            <a:endParaRPr lang="ja-JP" sz="1500"/>
          </a:p>
        </p:txBody>
      </p:sp>
      <p:sp>
        <p:nvSpPr>
          <p:cNvPr id="123" name="Shape 123"/>
          <p:cNvSpPr/>
          <p:nvPr/>
        </p:nvSpPr>
        <p:spPr>
          <a:xfrm>
            <a:off x="7708392" y="2624328"/>
            <a:ext cx="255117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RealityKitで球を置く</a:t>
            </a:r>
            <a:endParaRPr lang="ja-JP" sz="1100"/>
          </a:p>
        </p:txBody>
      </p:sp>
      <p:sp>
        <p:nvSpPr>
          <p:cNvPr id="124" name="Shape 124"/>
          <p:cNvSpPr/>
          <p:nvPr/>
        </p:nvSpPr>
        <p:spPr>
          <a:xfrm>
            <a:off x="1920240" y="4160520"/>
            <a:ext cx="2468880" cy="1051560"/>
          </a:xfrm>
          <a:prstGeom prst="roundRect">
            <a:avLst/>
          </a:prstGeom>
          <a:solidFill>
            <a:srgbClr val="10243A"/>
          </a:solidFill>
          <a:ln w="12700">
            <a:solidFill>
              <a:srgbClr val="29445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5"/>
          <p:cNvSpPr/>
          <p:nvPr/>
        </p:nvSpPr>
        <p:spPr>
          <a:xfrm>
            <a:off x="2084832" y="4361688"/>
            <a:ext cx="21396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F5FAFF"/>
                </a:solidFill>
                <a:latin typeface="Aptos"/>
                <a:ea typeface="Aptos"/>
              </a:rPr>
              <a:t>形を採点</a:t>
            </a:r>
            <a:endParaRPr lang="ja-JP" sz="1500"/>
          </a:p>
        </p:txBody>
      </p:sp>
      <p:sp>
        <p:nvSpPr>
          <p:cNvPr id="126" name="Shape 126"/>
          <p:cNvSpPr/>
          <p:nvPr/>
        </p:nvSpPr>
        <p:spPr>
          <a:xfrm>
            <a:off x="2084832" y="4727448"/>
            <a:ext cx="213969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円らしさを分析</a:t>
            </a:r>
            <a:endParaRPr lang="ja-JP" sz="1100"/>
          </a:p>
        </p:txBody>
      </p:sp>
      <p:sp>
        <p:nvSpPr>
          <p:cNvPr id="127" name="Shape 127"/>
          <p:cNvSpPr/>
          <p:nvPr/>
        </p:nvSpPr>
        <p:spPr>
          <a:xfrm>
            <a:off x="5532120" y="4160520"/>
            <a:ext cx="2926080" cy="1051560"/>
          </a:xfrm>
          <a:prstGeom prst="roundRect">
            <a:avLst/>
          </a:prstGeom>
          <a:solidFill>
            <a:srgbClr val="173C4D"/>
          </a:solidFill>
          <a:ln w="12700">
            <a:solidFill>
              <a:srgbClr val="6EE7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8"/>
          <p:cNvSpPr/>
          <p:nvPr/>
        </p:nvSpPr>
        <p:spPr>
          <a:xfrm>
            <a:off x="5696712" y="4361688"/>
            <a:ext cx="25968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6EE7F9"/>
                </a:solidFill>
                <a:latin typeface="Aptos"/>
                <a:ea typeface="Aptos"/>
              </a:rPr>
              <a:t>カメラ映像</a:t>
            </a:r>
            <a:endParaRPr lang="ja-JP" sz="1500"/>
          </a:p>
        </p:txBody>
      </p:sp>
      <p:sp>
        <p:nvSpPr>
          <p:cNvPr id="129" name="Shape 129"/>
          <p:cNvSpPr/>
          <p:nvPr/>
        </p:nvSpPr>
        <p:spPr>
          <a:xfrm>
            <a:off x="5696712" y="4727448"/>
            <a:ext cx="2596896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0" i="0">
                <a:solidFill>
                  <a:srgbClr val="AFC1D4"/>
                </a:solidFill>
                <a:latin typeface="Aptos"/>
                <a:ea typeface="Aptos"/>
              </a:rPr>
              <a:t>実際の空間を背景にする</a:t>
            </a:r>
            <a:endParaRPr lang="ja-JP" sz="1100"/>
          </a:p>
        </p:txBody>
      </p:sp>
      <p:cxnSp>
        <p:nvCxnSpPr>
          <p:cNvPr id="130" name="Line 130"/>
          <p:cNvCxnSpPr/>
          <p:nvPr/>
        </p:nvCxnSpPr>
        <p:spPr>
          <a:xfrm>
            <a:off x="3090672" y="2578608"/>
            <a:ext cx="722376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131" name="Line 131"/>
          <p:cNvCxnSpPr/>
          <p:nvPr/>
        </p:nvCxnSpPr>
        <p:spPr>
          <a:xfrm>
            <a:off x="6766560" y="2578608"/>
            <a:ext cx="704088" cy="0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cxnSp>
        <p:nvCxnSpPr>
          <p:cNvPr id="132" name="Line 132"/>
          <p:cNvCxnSpPr/>
          <p:nvPr/>
        </p:nvCxnSpPr>
        <p:spPr>
          <a:xfrm>
            <a:off x="5285232" y="3127248"/>
            <a:ext cx="0" cy="941832"/>
          </a:xfrm>
          <a:prstGeom prst="line">
            <a:avLst/>
          </a:prstGeom>
          <a:ln w="12700">
            <a:solidFill>
              <a:srgbClr val="29445D"/>
            </a:solidFill>
            <a:tailEnd type="triangle"/>
          </a:ln>
        </p:spPr>
      </p:cxnSp>
      <p:cxnSp>
        <p:nvCxnSpPr>
          <p:cNvPr id="133" name="Line 133"/>
          <p:cNvCxnSpPr/>
          <p:nvPr/>
        </p:nvCxnSpPr>
        <p:spPr>
          <a:xfrm>
            <a:off x="6217920" y="3127248"/>
            <a:ext cx="548640" cy="941832"/>
          </a:xfrm>
          <a:prstGeom prst="line">
            <a:avLst/>
          </a:prstGeom>
          <a:ln w="25400">
            <a:solidFill>
              <a:srgbClr val="6EE7F9"/>
            </a:solidFill>
            <a:tailEnd type="triangle"/>
          </a:ln>
        </p:spPr>
      </p:cxnSp>
      <p:sp>
        <p:nvSpPr>
          <p:cNvPr id="134" name="Shape 134"/>
          <p:cNvSpPr/>
          <p:nvPr/>
        </p:nvSpPr>
        <p:spPr>
          <a:xfrm>
            <a:off x="822960" y="571500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500" b="1" i="0">
                <a:solidFill>
                  <a:srgbClr val="6EE7F9"/>
                </a:solidFill>
                <a:latin typeface="Aptos"/>
                <a:ea typeface="Aptos"/>
              </a:rPr>
              <a:t>既存の記録・採点機能を活かして、AR表示を追加</a:t>
            </a:r>
            <a:endParaRPr lang="ja-JP" sz="1500"/>
          </a:p>
        </p:txBody>
      </p:sp>
      <p:sp>
        <p:nvSpPr>
          <p:cNvPr id="135" name="Shape 135"/>
          <p:cNvSpPr/>
          <p:nvPr/>
        </p:nvSpPr>
        <p:spPr>
          <a:xfrm>
            <a:off x="822960" y="6053328"/>
            <a:ext cx="103327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200" b="0" i="0">
                <a:solidFill>
                  <a:srgbClr val="AFC1D4"/>
                </a:solidFill>
                <a:latin typeface="Aptos"/>
                <a:ea typeface="Aptos"/>
              </a:rPr>
              <a:t>記録した軌跡を、結果画面だけでなく実空間でも確認できる</a:t>
            </a:r>
            <a:endParaRPr lang="ja-JP" sz="1200"/>
          </a:p>
        </p:txBody>
      </p:sp>
      <p:sp>
        <p:nvSpPr>
          <p:cNvPr id="136" name="Shape 136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05</a:t>
            </a:r>
            <a:endParaRPr lang="ja-JP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/>
        </p:nvSpPr>
        <p:spPr>
          <a:xfrm>
            <a:off x="640080" y="38404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100" b="1" i="0">
                <a:solidFill>
                  <a:srgbClr val="6EE7F9"/>
                </a:solidFill>
                <a:latin typeface="Aptos"/>
                <a:ea typeface="Aptos"/>
              </a:rPr>
              <a:t>05  TAKEAWAY</a:t>
            </a:r>
            <a:endParaRPr lang="ja-JP" sz="1100"/>
          </a:p>
        </p:txBody>
      </p:sp>
      <p:sp>
        <p:nvSpPr>
          <p:cNvPr id="138" name="Shape 138"/>
          <p:cNvSpPr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2800" b="1" i="0">
                <a:solidFill>
                  <a:srgbClr val="F5FAFF"/>
                </a:solidFill>
                <a:latin typeface="Aptos"/>
                <a:ea typeface="Aptos"/>
              </a:rPr>
              <a:t>このアプリが目指す体験</a:t>
            </a:r>
            <a:endParaRPr lang="ja-JP" sz="2800"/>
          </a:p>
        </p:txBody>
      </p:sp>
      <p:sp>
        <p:nvSpPr>
          <p:cNvPr id="139" name="Shape 139"/>
          <p:cNvSpPr/>
          <p:nvPr/>
        </p:nvSpPr>
        <p:spPr>
          <a:xfrm>
            <a:off x="658368" y="1298448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400" b="0" i="0">
                <a:solidFill>
                  <a:srgbClr val="AFC1D4"/>
                </a:solidFill>
                <a:latin typeface="Aptos"/>
                <a:ea typeface="Aptos"/>
              </a:rPr>
              <a:t>描いた動きを、数字だけでなく空間で見返す</a:t>
            </a:r>
            <a:endParaRPr lang="ja-JP" sz="1400"/>
          </a:p>
        </p:txBody>
      </p:sp>
      <p:sp>
        <p:nvSpPr>
          <p:cNvPr id="140" name="Shape 140"/>
          <p:cNvSpPr/>
          <p:nvPr/>
        </p:nvSpPr>
        <p:spPr>
          <a:xfrm>
            <a:off x="777240" y="20574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800" b="1" i="0">
                <a:solidFill>
                  <a:srgbClr val="6EE7F9"/>
                </a:solidFill>
                <a:latin typeface="Aptos"/>
                <a:ea typeface="Aptos"/>
              </a:rPr>
              <a:t>できること</a:t>
            </a:r>
            <a:endParaRPr lang="ja-JP" sz="1800"/>
          </a:p>
        </p:txBody>
      </p:sp>
      <p:sp>
        <p:nvSpPr>
          <p:cNvPr id="141" name="Shape 141"/>
          <p:cNvSpPr/>
          <p:nvPr/>
        </p:nvSpPr>
        <p:spPr>
          <a:xfrm>
            <a:off x="804672" y="2606040"/>
            <a:ext cx="512064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 b="0" i="0">
                <a:solidFill>
                  <a:srgbClr val="F5FAFF"/>
                </a:solidFill>
                <a:latin typeface="Aptos"/>
                <a:ea typeface="Aptos"/>
              </a:rPr>
              <a:t>• iPhoneの移動をARKitで3D記録
• origin基準の相対座標で軌跡を保持
• カメラ映像上に球の点群として再表示
• AR PREVIEWからResultへ進み、RETRYも可能</a:t>
            </a:r>
            <a:endParaRPr lang="ja-JP" sz="1600"/>
          </a:p>
        </p:txBody>
      </p:sp>
      <p:sp>
        <p:nvSpPr>
          <p:cNvPr id="142" name="Shape 142"/>
          <p:cNvSpPr/>
          <p:nvPr/>
        </p:nvSpPr>
        <p:spPr>
          <a:xfrm>
            <a:off x="6400800" y="2057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800" b="1" i="0">
                <a:solidFill>
                  <a:srgbClr val="6EE7F9"/>
                </a:solidFill>
                <a:latin typeface="Aptos"/>
                <a:ea typeface="Aptos"/>
              </a:rPr>
              <a:t>次の拡張候補</a:t>
            </a:r>
            <a:endParaRPr lang="ja-JP" sz="1800"/>
          </a:p>
        </p:txBody>
      </p:sp>
      <p:sp>
        <p:nvSpPr>
          <p:cNvPr id="143" name="Shape 143"/>
          <p:cNvSpPr/>
          <p:nvPr/>
        </p:nvSpPr>
        <p:spPr>
          <a:xfrm>
            <a:off x="6428232" y="2606040"/>
            <a:ext cx="45720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600" b="0" i="0">
                <a:solidFill>
                  <a:srgbClr val="F5FAFF"/>
                </a:solidFill>
                <a:latin typeface="Aptos"/>
                <a:ea typeface="Aptos"/>
              </a:rPr>
              <a:t>• 点群を連続線やチューブへ発展
• 軌跡の色・太さ・再生速度を調整
• 実空間の円との誤差を可視化
• 記録データの保存と比較</a:t>
            </a:r>
            <a:endParaRPr lang="ja-JP" sz="1600"/>
          </a:p>
        </p:txBody>
      </p:sp>
      <p:sp>
        <p:nvSpPr>
          <p:cNvPr id="144" name="Shape 144"/>
          <p:cNvSpPr/>
          <p:nvPr/>
        </p:nvSpPr>
        <p:spPr>
          <a:xfrm>
            <a:off x="777240" y="4892040"/>
            <a:ext cx="10424160" cy="713232"/>
          </a:xfrm>
          <a:prstGeom prst="roundRect">
            <a:avLst/>
          </a:prstGeom>
          <a:solidFill>
            <a:srgbClr val="0D2B3A"/>
          </a:solidFill>
          <a:ln w="12700">
            <a:solidFill>
              <a:srgbClr val="6EE7F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5"/>
          <p:cNvSpPr/>
          <p:nvPr/>
        </p:nvSpPr>
        <p:spPr>
          <a:xfrm>
            <a:off x="1051560" y="507492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1900" b="1" i="0">
                <a:solidFill>
                  <a:srgbClr val="6EE7F9"/>
                </a:solidFill>
                <a:latin typeface="Aptos"/>
                <a:ea typeface="Aptos"/>
              </a:rPr>
              <a:t>記録した動きを、画面の中の数値ではなく、空間の中で確認できる</a:t>
            </a:r>
            <a:endParaRPr lang="ja-JP" sz="1900"/>
          </a:p>
        </p:txBody>
      </p:sp>
      <p:sp>
        <p:nvSpPr>
          <p:cNvPr id="146" name="Shape 146"/>
          <p:cNvSpPr/>
          <p:nvPr/>
        </p:nvSpPr>
        <p:spPr>
          <a:xfrm>
            <a:off x="658368" y="6565392"/>
            <a:ext cx="10789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ja-JP" sz="900" b="0" i="0">
                <a:solidFill>
                  <a:srgbClr val="AFC1D4"/>
                </a:solidFill>
                <a:latin typeface="Aptos"/>
                <a:ea typeface="Aptos"/>
              </a:rPr>
              <a:t>CIRCLETRACKERAPP  /  06</a:t>
            </a:r>
            <a:endParaRPr lang="ja-JP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Microsoft Macintosh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j2523_髙橋 湊_松江</cp:lastModifiedBy>
  <cp:revision>1</cp:revision>
  <dcterms:modified xsi:type="dcterms:W3CDTF">2026-09-23T08:03:43Z</dcterms:modified>
</cp:coreProperties>
</file>